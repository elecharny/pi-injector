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4"/>
    <p:sldMasterId id="2147483750" r:id="rId5"/>
    <p:sldMasterId id="2147483764" r:id="rId6"/>
    <p:sldMasterId id="2147483777" r:id="rId7"/>
    <p:sldMasterId id="2147483790" r:id="rId8"/>
  </p:sldMasterIdLst>
  <p:notesMasterIdLst>
    <p:notesMasterId r:id="rId14"/>
  </p:notesMasterIdLst>
  <p:sldIdLst>
    <p:sldId id="276" r:id="rId9"/>
    <p:sldId id="277" r:id="rId10"/>
    <p:sldId id="278" r:id="rId11"/>
    <p:sldId id="280" r:id="rId12"/>
    <p:sldId id="281" r:id="rId13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08" autoAdjust="0"/>
    <p:restoredTop sz="94705" autoAdjust="0"/>
  </p:normalViewPr>
  <p:slideViewPr>
    <p:cSldViewPr>
      <p:cViewPr>
        <p:scale>
          <a:sx n="110" d="100"/>
          <a:sy n="110" d="100"/>
        </p:scale>
        <p:origin x="-2514" y="-2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31E31223-ADE9-4D68-9F03-2F453132BF1D}" type="datetimeFigureOut">
              <a:rPr lang="fr-FR"/>
              <a:pPr>
                <a:defRPr/>
              </a:pPr>
              <a:t>21/01/2015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pPr lv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fr-FR" noProof="0" smtClean="0"/>
              <a:t>Modifiez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  <a:p>
            <a:pPr lvl="3"/>
            <a:r>
              <a:rPr lang="fr-FR" noProof="0" smtClean="0"/>
              <a:t>Quatrième niveau</a:t>
            </a:r>
          </a:p>
          <a:p>
            <a:pPr lvl="4"/>
            <a:r>
              <a:rPr lang="fr-FR" noProof="0" smtClean="0"/>
              <a:t>Cinquième niveau</a:t>
            </a:r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E25014BA-7E69-4DF1-A456-8B7648CDD71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3056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358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/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550468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0"/>
          </p:nvPr>
        </p:nvSpPr>
        <p:spPr>
          <a:xfrm>
            <a:off x="4859338" y="3284538"/>
            <a:ext cx="2592387" cy="1296987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475106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12813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7F4BBC-DD33-4EAF-A795-05B045A31A4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59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0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36138-AD5F-4E29-A399-E844EF845F8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1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0661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Century Gothic" pitchFamily="34" charset="0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6678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68EFC0-3423-402B-B708-FFED42F3D37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4469B6-F905-4DD1-9521-B816AF7D40C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268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459819-6027-45BE-9692-27918BA0DA2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11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D47D34-CF79-4062-8B39-4EA03315C9B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1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5B8B3-60A9-43B3-B6DB-7480FFDB604E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5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046924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729E10-5B70-4C9E-8133-9D7F3F4E702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33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07288" cy="1066130"/>
          </a:xfrm>
        </p:spPr>
        <p:txBody>
          <a:bodyPr/>
          <a:lstStyle/>
          <a:p>
            <a:r>
              <a:rPr lang="fr-FR" dirty="0" smtClean="0"/>
              <a:t>Cliquez pour modifier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C0F4C6-C305-463C-9883-6FE16226C82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03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e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emf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3" r:id="rId2"/>
    <p:sldLayoutId id="2147483900" r:id="rId3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lnSpc>
          <a:spcPct val="150000"/>
        </a:lnSpc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1pPr>
      <a:lvl2pPr marL="215900" indent="-215900" algn="l" rtl="0" eaLnBrk="0" fontAlgn="base" hangingPunct="0">
        <a:lnSpc>
          <a:spcPct val="150000"/>
        </a:lnSpc>
        <a:spcBef>
          <a:spcPts val="600"/>
        </a:spcBef>
        <a:spcAft>
          <a:spcPts val="30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400" kern="1200">
          <a:solidFill>
            <a:schemeClr val="tx1"/>
          </a:solidFill>
          <a:latin typeface="+mn-lt"/>
          <a:ea typeface="Batang" pitchFamily="18" charset="-127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2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Batang" pitchFamily="18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8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205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dirty="0" smtClean="0"/>
              <a:t>Cliquez pour modifier les styles du texte du masque</a:t>
            </a:r>
          </a:p>
          <a:p>
            <a:pPr lvl="1"/>
            <a:r>
              <a:rPr lang="fr-FR" altLang="fr-FR" dirty="0" smtClean="0"/>
              <a:t>Deuxième niveau</a:t>
            </a:r>
          </a:p>
          <a:p>
            <a:pPr lvl="2"/>
            <a:r>
              <a:rPr lang="fr-FR" altLang="fr-FR" dirty="0" smtClean="0"/>
              <a:t>Troisième niveau</a:t>
            </a:r>
          </a:p>
          <a:p>
            <a:pPr lvl="3"/>
            <a:r>
              <a:rPr lang="fr-FR" altLang="fr-FR" dirty="0" smtClean="0"/>
              <a:t>Quatrième niveau</a:t>
            </a:r>
          </a:p>
          <a:p>
            <a:pPr lvl="4"/>
            <a:r>
              <a:rPr lang="fr-FR" altLang="fr-FR" dirty="0" smtClean="0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C60CE39-269A-4C5E-B9F4-43A3170E95E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  <p:pic>
        <p:nvPicPr>
          <p:cNvPr id="2055" name="Image 3" descr="UPMC_cart blanc Q_7504-166.jp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1" y="38522"/>
            <a:ext cx="155733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4000" b="0" cap="none" spc="0" dirty="0" err="1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rPr>
              <a:t>PiSTL</a:t>
            </a:r>
            <a:endParaRPr lang="fr-FR" sz="4000" b="0" cap="none" spc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1" r:id="rId2"/>
    <p:sldLayoutId id="2147483902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00" y="-1588"/>
            <a:ext cx="9180513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307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6F21E3C-4CA7-4246-9815-1266DAEBC40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88"/>
            <a:ext cx="9163050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41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AF17D9E8-113B-42C2-92CB-57732462949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3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51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E2A143CE-C1AE-46DD-890C-4016E6AB07A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wmf"/><Relationship Id="rId5" Type="http://schemas.openxmlformats.org/officeDocument/2006/relationships/image" Target="../media/image9.wm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E1B90F8-8EE4-409B-B151-70F540DBBD7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9460" name="Titre 2"/>
          <p:cNvSpPr>
            <a:spLocks noGrp="1"/>
          </p:cNvSpPr>
          <p:nvPr>
            <p:ph type="title"/>
          </p:nvPr>
        </p:nvSpPr>
        <p:spPr>
          <a:xfrm>
            <a:off x="179388" y="274638"/>
            <a:ext cx="8462962" cy="1143000"/>
          </a:xfrm>
        </p:spPr>
        <p:txBody>
          <a:bodyPr/>
          <a:lstStyle/>
          <a:p>
            <a:pPr eaLnBrk="1" hangingPunct="1"/>
            <a:r>
              <a:rPr lang="fr-FR" dirty="0" smtClean="0"/>
              <a:t>Tableau de bord – Projet: pi-</a:t>
            </a:r>
            <a:r>
              <a:rPr lang="fr-FR" dirty="0" err="1" smtClean="0"/>
              <a:t>injector</a:t>
            </a:r>
            <a:endParaRPr lang="en-US" altLang="fr-FR" dirty="0" smtClean="0"/>
          </a:p>
        </p:txBody>
      </p:sp>
      <p:sp>
        <p:nvSpPr>
          <p:cNvPr id="19461" name="Espace réservé du contenu 3"/>
          <p:cNvSpPr>
            <a:spLocks noGrp="1"/>
          </p:cNvSpPr>
          <p:nvPr>
            <p:ph idx="1"/>
          </p:nvPr>
        </p:nvSpPr>
        <p:spPr>
          <a:xfrm>
            <a:off x="179388" y="1600200"/>
            <a:ext cx="8713092" cy="4525963"/>
          </a:xfrm>
        </p:spPr>
        <p:txBody>
          <a:bodyPr/>
          <a:lstStyle/>
          <a:p>
            <a:r>
              <a:rPr lang="fr-FR" dirty="0"/>
              <a:t>Réalisations depuis </a:t>
            </a:r>
            <a:r>
              <a:rPr lang="fr-FR" dirty="0" smtClean="0"/>
              <a:t>le 25/11/14</a:t>
            </a:r>
          </a:p>
          <a:p>
            <a:endParaRPr lang="fr-FR" b="0" i="1" dirty="0"/>
          </a:p>
          <a:p>
            <a:r>
              <a:rPr lang="fr-FR" dirty="0"/>
              <a:t>Suivi des </a:t>
            </a:r>
            <a:r>
              <a:rPr lang="fr-FR" dirty="0" smtClean="0"/>
              <a:t>activités</a:t>
            </a:r>
          </a:p>
          <a:p>
            <a:endParaRPr lang="fr-FR" dirty="0"/>
          </a:p>
          <a:p>
            <a:r>
              <a:rPr lang="fr-FR" dirty="0"/>
              <a:t>Suivi des </a:t>
            </a:r>
            <a:r>
              <a:rPr lang="fr-FR" dirty="0" smtClean="0"/>
              <a:t>charges</a:t>
            </a:r>
          </a:p>
          <a:p>
            <a:endParaRPr lang="fr-FR" dirty="0"/>
          </a:p>
          <a:p>
            <a:r>
              <a:rPr lang="fr-FR" dirty="0"/>
              <a:t>Synthèse « Météo »</a:t>
            </a:r>
            <a:endParaRPr lang="en-GB" dirty="0"/>
          </a:p>
        </p:txBody>
      </p:sp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</a:t>
            </a:r>
            <a:r>
              <a:rPr lang="en-US" dirty="0" smtClean="0"/>
              <a:t>2015.01.21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4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Suivi des activités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 smtClean="0"/>
              <a:t>25/11/14 </a:t>
            </a:r>
            <a:r>
              <a:rPr lang="fr-FR" dirty="0"/>
              <a:t>au </a:t>
            </a:r>
            <a:r>
              <a:rPr lang="fr-FR" dirty="0" smtClean="0"/>
              <a:t>21/01/15</a:t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6" name="Espace réservé du contenu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7854067"/>
              </p:ext>
            </p:extLst>
          </p:nvPr>
        </p:nvGraphicFramePr>
        <p:xfrm>
          <a:off x="323528" y="1340768"/>
          <a:ext cx="8640960" cy="2376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Réalisations et événements majeurs sur la période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Réalisations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et événements majeurs sur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la période à venir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85810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Réalisation du lot 1 : 6j/h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08/01/15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Réalisation du kit de livraison : 8j/h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Définir le plan du rapport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la STR : 4j/h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le manuel utilisateur : 3j/h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le manuel développeur : 4j/h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le manuel d’exploitation : 2j/h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Préparer la présentation du 30/01/15 : 2j/h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4169502"/>
              </p:ext>
            </p:extLst>
          </p:nvPr>
        </p:nvGraphicFramePr>
        <p:xfrm>
          <a:off x="323528" y="3717032"/>
          <a:ext cx="8640960" cy="2404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Principaux risques identifiés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Arbitrages ou décisions demandés à la MOA ou la MOE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Gros travail demandé sur les autres projets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Indisponibilité d’un ou plusieurs membres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Charge de travail estimée à 24j/h, soit 8j par personne en 9j.</a:t>
                      </a:r>
                      <a:endParaRPr lang="fr-FR" sz="1400" b="0" i="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Espace réservé du pied de page 3"/>
          <p:cNvSpPr txBox="1">
            <a:spLocks/>
          </p:cNvSpPr>
          <p:nvPr/>
        </p:nvSpPr>
        <p:spPr>
          <a:xfrm>
            <a:off x="2987824" y="6381328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/>
              <a:t>TB 2015.01.21</a:t>
            </a:r>
          </a:p>
        </p:txBody>
      </p:sp>
    </p:spTree>
    <p:extLst>
      <p:ext uri="{BB962C8B-B14F-4D97-AF65-F5344CB8AC3E}">
        <p14:creationId xmlns:p14="http://schemas.microsoft.com/office/powerpoint/2010/main" val="13674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Avancement des </a:t>
            </a:r>
            <a:r>
              <a:rPr lang="fr-FR" dirty="0" smtClean="0"/>
              <a:t>tâches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11/11/14 au </a:t>
            </a:r>
            <a:r>
              <a:rPr lang="fr-FR" dirty="0" smtClean="0"/>
              <a:t>25/11/14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034991"/>
              </p:ext>
            </p:extLst>
          </p:nvPr>
        </p:nvGraphicFramePr>
        <p:xfrm>
          <a:off x="395538" y="1628798"/>
          <a:ext cx="8424934" cy="4489962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60238"/>
                <a:gridCol w="1080120"/>
                <a:gridCol w="1008112"/>
                <a:gridCol w="1008112"/>
                <a:gridCol w="1008112"/>
                <a:gridCol w="1008112"/>
                <a:gridCol w="1152128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(et N° de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réf.)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du responsable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Personnes affectées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Début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estimée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lot 1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02/12/14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lot 2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02/12/14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16/12/14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95%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Manuel utilisateur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27/01/15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Manuel développeur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Manuel d’exploitation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26/01/15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Rédaction de la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STR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80%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2015.01.21</a:t>
            </a:r>
          </a:p>
        </p:txBody>
      </p:sp>
    </p:spTree>
    <p:extLst>
      <p:ext uri="{BB962C8B-B14F-4D97-AF65-F5344CB8AC3E}">
        <p14:creationId xmlns:p14="http://schemas.microsoft.com/office/powerpoint/2010/main" val="2963372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fr-FR" dirty="0" smtClean="0"/>
              <a:t>Avancement des livrables au 25/11/14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429057"/>
              </p:ext>
            </p:extLst>
          </p:nvPr>
        </p:nvGraphicFramePr>
        <p:xfrm>
          <a:off x="395538" y="1628798"/>
          <a:ext cx="8424934" cy="3678286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512166"/>
                <a:gridCol w="1440160"/>
                <a:gridCol w="1224136"/>
                <a:gridCol w="1008112"/>
                <a:gridCol w="1008112"/>
                <a:gridCol w="1008112"/>
                <a:gridCol w="1224136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(référence) du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livrables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Description courte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GB" sz="1400" b="1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Valideur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théorique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révisée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15%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867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80%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2015.01.21</a:t>
            </a:r>
          </a:p>
        </p:txBody>
      </p:sp>
    </p:spTree>
    <p:extLst>
      <p:ext uri="{BB962C8B-B14F-4D97-AF65-F5344CB8AC3E}">
        <p14:creationId xmlns:p14="http://schemas.microsoft.com/office/powerpoint/2010/main" val="296067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Météo - Synthèse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839996"/>
              </p:ext>
            </p:extLst>
          </p:nvPr>
        </p:nvGraphicFramePr>
        <p:xfrm>
          <a:off x="323527" y="3861048"/>
          <a:ext cx="8640961" cy="17722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686039"/>
                <a:gridCol w="834242"/>
                <a:gridCol w="1512168"/>
                <a:gridCol w="1296144"/>
                <a:gridCol w="3312368"/>
              </a:tblGrid>
              <a:tr h="24822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Météo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Tendance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Avancement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Commentaire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</a:tr>
              <a:tr h="21276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b="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100%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Validé par E. </a:t>
                      </a:r>
                      <a:r>
                        <a:rPr lang="fr-FR" sz="1400" b="0" i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15%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80%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367992"/>
              </p:ext>
            </p:extLst>
          </p:nvPr>
        </p:nvGraphicFramePr>
        <p:xfrm>
          <a:off x="431520" y="1380624"/>
          <a:ext cx="8640963" cy="71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</a:tblGrid>
              <a:tr h="50405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Signalétique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Tendances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Amélioration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Stable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Dégradation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872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latent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avéré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Blocage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9318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58" descr="MCj043258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39339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9" descr="j043159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8412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0"/>
          <p:cNvPicPr>
            <a:picLocks noChangeAspect="1" noChangeArrowheads="1"/>
          </p:cNvPicPr>
          <p:nvPr/>
        </p:nvPicPr>
        <p:blipFill>
          <a:blip r:embed="rId5" cstate="print"/>
          <a:srcRect r="94710"/>
          <a:stretch>
            <a:fillRect/>
          </a:stretch>
        </p:blipFill>
        <p:spPr bwMode="auto">
          <a:xfrm>
            <a:off x="6344906" y="1407994"/>
            <a:ext cx="360000" cy="468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61"/>
          <p:cNvPicPr>
            <a:picLocks noChangeAspect="1" noChangeArrowheads="1"/>
          </p:cNvPicPr>
          <p:nvPr/>
        </p:nvPicPr>
        <p:blipFill>
          <a:blip r:embed="rId6" cstate="print"/>
          <a:srcRect r="94984"/>
          <a:stretch>
            <a:fillRect/>
          </a:stretch>
        </p:blipFill>
        <p:spPr bwMode="auto">
          <a:xfrm>
            <a:off x="8163357" y="1394091"/>
            <a:ext cx="360000" cy="49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7243999" y="1445813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99763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5" name="Tableau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65285"/>
              </p:ext>
            </p:extLst>
          </p:nvPr>
        </p:nvGraphicFramePr>
        <p:xfrm>
          <a:off x="323528" y="2276872"/>
          <a:ext cx="8640960" cy="1296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/>
                <a:gridCol w="3564396"/>
                <a:gridCol w="3564396"/>
              </a:tblGrid>
              <a:tr h="302308">
                <a:tc rowSpan="4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Appréciation générale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noFill/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</a:tr>
              <a:tr h="3892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fr-FR" sz="140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Espace réservé du pied de page 3"/>
          <p:cNvSpPr txBox="1">
            <a:spLocks/>
          </p:cNvSpPr>
          <p:nvPr/>
        </p:nvSpPr>
        <p:spPr>
          <a:xfrm>
            <a:off x="3140612" y="6357937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/>
              <a:t>TB 2015.01.21</a:t>
            </a:r>
          </a:p>
        </p:txBody>
      </p:sp>
      <p:pic>
        <p:nvPicPr>
          <p:cNvPr id="18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1187624" y="2801218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18866" y="4117537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491880" y="4099733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18865" y="4396647"/>
            <a:ext cx="282315" cy="282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7003" y="4708286"/>
            <a:ext cx="282315" cy="282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508072" y="4411372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4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501564" y="4700986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5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1560" y="2801218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9447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4_Default Theme">
  <a:themeElements>
    <a:clrScheme name="UPMC charte graphique">
      <a:dk1>
        <a:srgbClr val="000000"/>
      </a:dk1>
      <a:lt1>
        <a:srgbClr val="FFFFFF"/>
      </a:lt1>
      <a:dk2>
        <a:srgbClr val="665546"/>
      </a:dk2>
      <a:lt2>
        <a:srgbClr val="91785B"/>
      </a:lt2>
      <a:accent1>
        <a:srgbClr val="4B92DB"/>
      </a:accent1>
      <a:accent2>
        <a:srgbClr val="644459"/>
      </a:accent2>
      <a:accent3>
        <a:srgbClr val="B6BF00"/>
      </a:accent3>
      <a:accent4>
        <a:srgbClr val="FFA02F"/>
      </a:accent4>
      <a:accent5>
        <a:srgbClr val="B5384F"/>
      </a:accent5>
      <a:accent6>
        <a:srgbClr val="D10074"/>
      </a:accent6>
      <a:hlink>
        <a:srgbClr val="00B9E4"/>
      </a:hlink>
      <a:folHlink>
        <a:srgbClr val="22505F"/>
      </a:folHlink>
    </a:clrScheme>
    <a:fontScheme name="Charte graphique UPMC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ESCRIPTION0 xmlns="ba304b05-2de2-4a46-be7c-fa23123e7702">Exemple de Modele de TB-projet</DESCRIPTION0>
    <Cat_x00e9_gorie xmlns="ba304b05-2de2-4a46-be7c-fa23123e7702">Etude</Cat_x00e9_gorie>
    <Statut xmlns="ba304b05-2de2-4a46-be7c-fa23123e7702">Encours</Statut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FB27D112975140984A018D31E93D46" ma:contentTypeVersion="6" ma:contentTypeDescription="Crée un document." ma:contentTypeScope="" ma:versionID="cd1a5a7e3b4fab495c8d03ccfa007047">
  <xsd:schema xmlns:xsd="http://www.w3.org/2001/XMLSchema" xmlns:xs="http://www.w3.org/2001/XMLSchema" xmlns:p="http://schemas.microsoft.com/office/2006/metadata/properties" xmlns:ns2="ba304b05-2de2-4a46-be7c-fa23123e7702" targetNamespace="http://schemas.microsoft.com/office/2006/metadata/properties" ma:root="true" ma:fieldsID="17380a433e5f01ac948fc83ff4e94548" ns2:_="">
    <xsd:import namespace="ba304b05-2de2-4a46-be7c-fa23123e7702"/>
    <xsd:element name="properties">
      <xsd:complexType>
        <xsd:sequence>
          <xsd:element name="documentManagement">
            <xsd:complexType>
              <xsd:all>
                <xsd:element ref="ns2:DESCRIPTION0" minOccurs="0"/>
                <xsd:element ref="ns2:Statut"/>
                <xsd:element ref="ns2:Cat_x00e9_gori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04b05-2de2-4a46-be7c-fa23123e7702" elementFormDefault="qualified">
    <xsd:import namespace="http://schemas.microsoft.com/office/2006/documentManagement/types"/>
    <xsd:import namespace="http://schemas.microsoft.com/office/infopath/2007/PartnerControls"/>
    <xsd:element name="DESCRIPTION0" ma:index="8" nillable="true" ma:displayName="Description" ma:description="Description du document" ma:internalName="DESCRIPTION0">
      <xsd:simpleType>
        <xsd:restriction base="dms:Note">
          <xsd:maxLength value="255"/>
        </xsd:restriction>
      </xsd:simpleType>
    </xsd:element>
    <xsd:element name="Statut" ma:index="9" ma:displayName="Statut" ma:default="Travail" ma:description="Statut du document (Utiliser pour les projet que les documents ayant le statut &quot;Valide&quot;)" ma:format="Dropdown" ma:indexed="true" ma:internalName="Statut">
      <xsd:simpleType>
        <xsd:restriction base="dms:Choice">
          <xsd:enumeration value="Travail"/>
          <xsd:enumeration value="Encours"/>
          <xsd:enumeration value="Valide"/>
        </xsd:restriction>
      </xsd:simpleType>
    </xsd:element>
    <xsd:element name="Cat_x00e9_gorie" ma:index="10" nillable="true" ma:displayName="Catégorie" ma:default="Projet" ma:description="Catégorie d'utilisation du document" ma:format="Dropdown" ma:internalName="Cat_x00e9_gorie">
      <xsd:simpleType>
        <xsd:restriction base="dms:Choice">
          <xsd:enumeration value="Projet"/>
          <xsd:enumeration value="Admin"/>
          <xsd:enumeration value="Dév"/>
          <xsd:enumeration value="Prod"/>
          <xsd:enumeration value="Etude"/>
          <xsd:enumeration value="NADAP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4C7E9DD-FD39-4258-ACCA-161BEA35866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42E19A6-1FC2-4635-9FD1-E19332A97D89}">
  <ds:schemaRefs>
    <ds:schemaRef ds:uri="http://schemas.microsoft.com/office/infopath/2007/PartnerControls"/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ba304b05-2de2-4a46-be7c-fa23123e7702"/>
    <ds:schemaRef ds:uri="http://purl.org/dc/terms/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A0A82F11-A615-41E5-B460-7C061A4C89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04b05-2de2-4a46-be7c-fa23123e77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7533</TotalTime>
  <Words>403</Words>
  <Application>Microsoft Office PowerPoint</Application>
  <PresentationFormat>Affichage à l'écran (4:3)</PresentationFormat>
  <Paragraphs>137</Paragraphs>
  <Slides>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4_Default Theme</vt:lpstr>
      <vt:lpstr>Conception personnalisée</vt:lpstr>
      <vt:lpstr>1_Conception personnalisée</vt:lpstr>
      <vt:lpstr>2_Conception personnalisée</vt:lpstr>
      <vt:lpstr>3_Conception personnalisée</vt:lpstr>
      <vt:lpstr>Tableau de bord – Projet: pi-injector</vt:lpstr>
      <vt:lpstr>Suivi des activités Période du 25/11/14 au 21/01/15 </vt:lpstr>
      <vt:lpstr>Avancement des tâches Période du 11/11/14 au 25/11/14 </vt:lpstr>
      <vt:lpstr>Avancement des livrables au 25/11/14  </vt:lpstr>
      <vt:lpstr>Météo - Synthèse </vt:lpstr>
    </vt:vector>
  </TitlesOfParts>
  <Manager>Christine.Viguier@admp6.jussieu.fr</Manager>
  <Company>Université P &amp; M Curie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Exemple de Modele de TB-projet</dc:title>
  <dc:subject>Pi-STL-Modele-TB</dc:subject>
  <dc:creator>Christine.Viguier@admp6.jussieu.fr</dc:creator>
  <cp:lastModifiedBy>Antoine</cp:lastModifiedBy>
  <cp:revision>195</cp:revision>
  <cp:lastPrinted>2013-11-03T19:18:17Z</cp:lastPrinted>
  <dcterms:created xsi:type="dcterms:W3CDTF">2013-05-07T09:29:44Z</dcterms:created>
  <dcterms:modified xsi:type="dcterms:W3CDTF">2015-01-21T19:39:43Z</dcterms:modified>
  <cp:category>MODELE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0x010100F4FB27D112975140984A018D31E93D46</vt:lpwstr>
  </property>
  <property fmtid="{D5CDD505-2E9C-101B-9397-08002B2CF9AE}" pid="3" name="DESCRIPTION0">
    <vt:lpwstr>Présentation NADAP 1 - MOA-</vt:lpwstr>
  </property>
  <property fmtid="{D5CDD505-2E9C-101B-9397-08002B2CF9AE}" pid="4" name="Statut">
    <vt:lpwstr>Valide</vt:lpwstr>
  </property>
  <property fmtid="{D5CDD505-2E9C-101B-9397-08002B2CF9AE}" pid="5" name="Catégorie">
    <vt:lpwstr>Etude</vt:lpwstr>
  </property>
</Properties>
</file>