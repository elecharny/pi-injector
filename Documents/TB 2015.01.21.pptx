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4"/>
    <p:sldMasterId id="2147483750" r:id="rId5"/>
    <p:sldMasterId id="2147483764" r:id="rId6"/>
    <p:sldMasterId id="2147483777" r:id="rId7"/>
    <p:sldMasterId id="2147483790" r:id="rId8"/>
  </p:sldMasterIdLst>
  <p:notesMasterIdLst>
    <p:notesMasterId r:id="rId14"/>
  </p:notesMasterIdLst>
  <p:sldIdLst>
    <p:sldId id="276" r:id="rId9"/>
    <p:sldId id="277" r:id="rId10"/>
    <p:sldId id="278" r:id="rId11"/>
    <p:sldId id="280" r:id="rId12"/>
    <p:sldId id="281" r:id="rId13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Style léger 1 - Accentuation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08" autoAdjust="0"/>
    <p:restoredTop sz="94705" autoAdjust="0"/>
  </p:normalViewPr>
  <p:slideViewPr>
    <p:cSldViewPr>
      <p:cViewPr>
        <p:scale>
          <a:sx n="110" d="100"/>
          <a:sy n="110" d="100"/>
        </p:scale>
        <p:origin x="-2514" y="-2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 smtClean="0">
                <a:latin typeface="Arial" pitchFamily="34" charset="0"/>
              </a:defRPr>
            </a:lvl1pPr>
          </a:lstStyle>
          <a:p>
            <a:pPr>
              <a:defRPr/>
            </a:pPr>
            <a:fld id="{31E31223-ADE9-4D68-9F03-2F453132BF1D}" type="datetimeFigureOut">
              <a:rPr lang="fr-FR"/>
              <a:pPr>
                <a:defRPr/>
              </a:pPr>
              <a:t>24/01/2015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fr-FR" noProof="0" smtClean="0"/>
              <a:t>Modifiez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 smtClean="0">
                <a:latin typeface="Arial" pitchFamily="34" charset="0"/>
              </a:defRPr>
            </a:lvl1pPr>
          </a:lstStyle>
          <a:p>
            <a:pPr>
              <a:defRPr/>
            </a:pPr>
            <a:fld id="{E25014BA-7E69-4DF1-A456-8B7648CDD71F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23056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9358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600200"/>
            <a:ext cx="5184576" cy="4525963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300"/>
              </a:spcAft>
              <a:defRPr/>
            </a:lvl1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>
          <a:xfrm>
            <a:off x="5868144" y="4077073"/>
            <a:ext cx="2880569" cy="2160216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300"/>
              </a:spcAft>
              <a:defRPr sz="1400">
                <a:solidFill>
                  <a:schemeClr val="bg1"/>
                </a:solidFill>
                <a:latin typeface="+mn-lt"/>
              </a:defRPr>
            </a:lvl1pPr>
            <a:lvl2pPr>
              <a:buFont typeface="Wingdings" pitchFamily="2" charset="2"/>
              <a:buChar char="Ø"/>
              <a:defRPr sz="1200">
                <a:solidFill>
                  <a:schemeClr val="bg1"/>
                </a:solidFill>
                <a:latin typeface="Century Gothic" pitchFamily="34" charset="0"/>
              </a:defRPr>
            </a:lvl2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2550468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5"/>
          <p:cNvSpPr>
            <a:spLocks noGrp="1"/>
          </p:cNvSpPr>
          <p:nvPr>
            <p:ph type="body" sz="quarter" idx="10"/>
          </p:nvPr>
        </p:nvSpPr>
        <p:spPr>
          <a:xfrm>
            <a:off x="4859338" y="3284538"/>
            <a:ext cx="2592387" cy="1296987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300"/>
              </a:spcAft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475106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600200"/>
            <a:ext cx="5184576" cy="4525963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1pPr>
            <a:lvl2pPr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2pPr>
            <a:lvl3pPr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3pPr>
            <a:lvl4pPr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4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>
          <a:xfrm>
            <a:off x="5868144" y="4077073"/>
            <a:ext cx="2880569" cy="2160216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300"/>
              </a:spcAft>
              <a:defRPr sz="1400">
                <a:solidFill>
                  <a:schemeClr val="bg1"/>
                </a:solidFill>
                <a:latin typeface="+mn-lt"/>
              </a:defRPr>
            </a:lvl1pPr>
            <a:lvl2pPr>
              <a:buFont typeface="Wingdings" pitchFamily="2" charset="2"/>
              <a:buChar char="Ø"/>
              <a:defRPr sz="1200">
                <a:solidFill>
                  <a:schemeClr val="bg1"/>
                </a:solidFill>
                <a:latin typeface="Century Gothic" pitchFamily="34" charset="0"/>
              </a:defRPr>
            </a:lvl2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4128137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  <a:p>
            <a:pPr lvl="2"/>
            <a:r>
              <a:rPr lang="fr-FR" noProof="0" dirty="0" smtClean="0"/>
              <a:t>Troisième niveau</a:t>
            </a:r>
          </a:p>
          <a:p>
            <a:pPr lvl="3"/>
            <a:r>
              <a:rPr lang="fr-FR" noProof="0" dirty="0" smtClean="0"/>
              <a:t>Quatrième niveau</a:t>
            </a:r>
          </a:p>
          <a:p>
            <a:pPr lvl="4"/>
            <a:r>
              <a:rPr lang="fr-FR" noProof="0" dirty="0" smtClean="0"/>
              <a:t>Cinquième niveau</a:t>
            </a:r>
            <a:endParaRPr lang="fr-FR" noProof="0" dirty="0"/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7F4BBC-DD33-4EAF-A795-05B045A31A4C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2359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pied de page 4"/>
          <p:cNvSpPr>
            <a:spLocks noGrp="1"/>
          </p:cNvSpPr>
          <p:nvPr>
            <p:ph type="ftr" sz="quarter" idx="10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636138-AD5F-4E29-A399-E844EF845F8F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016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0661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600200"/>
            <a:ext cx="5184576" cy="4525963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1pPr>
            <a:lvl2pPr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2pPr>
            <a:lvl3pPr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3pPr>
            <a:lvl4pPr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4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>
          <a:xfrm>
            <a:off x="5868144" y="4077073"/>
            <a:ext cx="2880569" cy="2160216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300"/>
              </a:spcAft>
              <a:defRPr sz="1400">
                <a:solidFill>
                  <a:schemeClr val="bg1"/>
                </a:solidFill>
                <a:latin typeface="Century Gothic" pitchFamily="34" charset="0"/>
              </a:defRPr>
            </a:lvl1pPr>
            <a:lvl2pPr>
              <a:buFont typeface="Wingdings" pitchFamily="2" charset="2"/>
              <a:buChar char="Ø"/>
              <a:defRPr sz="1200">
                <a:solidFill>
                  <a:schemeClr val="bg1"/>
                </a:solidFill>
                <a:latin typeface="Century Gothic" pitchFamily="34" charset="0"/>
              </a:defRPr>
            </a:lvl2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2866780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  <a:p>
            <a:pPr lvl="2"/>
            <a:r>
              <a:rPr lang="fr-FR" noProof="0" dirty="0" smtClean="0"/>
              <a:t>Troisième niveau</a:t>
            </a:r>
          </a:p>
          <a:p>
            <a:pPr lvl="3"/>
            <a:r>
              <a:rPr lang="fr-FR" noProof="0" dirty="0" smtClean="0"/>
              <a:t>Quatrième niveau</a:t>
            </a:r>
          </a:p>
          <a:p>
            <a:pPr lvl="4"/>
            <a:r>
              <a:rPr lang="fr-FR" noProof="0" dirty="0" smtClean="0"/>
              <a:t>Cinquième niveau</a:t>
            </a:r>
            <a:endParaRPr lang="fr-FR" noProof="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68EFC0-3423-402B-B708-FFED42F3D373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633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4469B6-F905-4DD1-9521-B816AF7D40C3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600200"/>
            <a:ext cx="5184576" cy="4525963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1pPr>
            <a:lvl2pPr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2pPr>
            <a:lvl3pPr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3pPr>
            <a:lvl4pPr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4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>
          <a:xfrm>
            <a:off x="5868144" y="4077073"/>
            <a:ext cx="2880569" cy="2160216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300"/>
              </a:spcAft>
              <a:defRPr sz="1400">
                <a:solidFill>
                  <a:schemeClr val="bg1"/>
                </a:solidFill>
                <a:latin typeface="+mn-lt"/>
              </a:defRPr>
            </a:lvl1pPr>
            <a:lvl2pPr>
              <a:buFont typeface="Wingdings" pitchFamily="2" charset="2"/>
              <a:buChar char="Ø"/>
              <a:defRPr sz="1200">
                <a:solidFill>
                  <a:schemeClr val="bg1"/>
                </a:solidFill>
                <a:latin typeface="Century Gothic" pitchFamily="34" charset="0"/>
              </a:defRPr>
            </a:lvl2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2826871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7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  <a:p>
            <a:pPr lvl="2"/>
            <a:r>
              <a:rPr lang="fr-FR" noProof="0" dirty="0" smtClean="0"/>
              <a:t>Troisième niveau</a:t>
            </a:r>
          </a:p>
          <a:p>
            <a:pPr lvl="3"/>
            <a:r>
              <a:rPr lang="fr-FR" noProof="0" dirty="0" smtClean="0"/>
              <a:t>Quatrième niveau</a:t>
            </a:r>
          </a:p>
          <a:p>
            <a:pPr lvl="4"/>
            <a:r>
              <a:rPr lang="fr-FR" noProof="0" dirty="0" smtClean="0"/>
              <a:t>Cinquième niveau</a:t>
            </a:r>
            <a:endParaRPr lang="fr-FR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459819-6027-45BE-9692-27918BA0DA29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2113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en-US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en-US" dirty="0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D47D34-CF79-4062-8B39-4EA03315C9B7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2910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55B8B3-60A9-43B3-B6DB-7480FFDB604E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7576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600200"/>
            <a:ext cx="5184576" cy="4525963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1pPr>
            <a:lvl2pPr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2pPr>
            <a:lvl3pPr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3pPr>
            <a:lvl4pPr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4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>
          <a:xfrm>
            <a:off x="5868144" y="4077073"/>
            <a:ext cx="2880569" cy="2160216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300"/>
              </a:spcAft>
              <a:defRPr sz="1400">
                <a:solidFill>
                  <a:schemeClr val="bg1"/>
                </a:solidFill>
                <a:latin typeface="+mn-lt"/>
              </a:defRPr>
            </a:lvl1pPr>
            <a:lvl2pPr>
              <a:buFont typeface="Wingdings" pitchFamily="2" charset="2"/>
              <a:buChar char="Ø"/>
              <a:defRPr sz="1200">
                <a:solidFill>
                  <a:schemeClr val="bg1"/>
                </a:solidFill>
                <a:latin typeface="Century Gothic" pitchFamily="34" charset="0"/>
              </a:defRPr>
            </a:lvl2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4046924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7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  <a:p>
            <a:pPr lvl="2"/>
            <a:r>
              <a:rPr lang="fr-FR" noProof="0" dirty="0" smtClean="0"/>
              <a:t>Troisième niveau</a:t>
            </a:r>
          </a:p>
          <a:p>
            <a:pPr lvl="3"/>
            <a:r>
              <a:rPr lang="fr-FR" noProof="0" dirty="0" smtClean="0"/>
              <a:t>Quatrième niveau</a:t>
            </a:r>
          </a:p>
          <a:p>
            <a:pPr lvl="4"/>
            <a:r>
              <a:rPr lang="fr-FR" noProof="0" dirty="0" smtClean="0"/>
              <a:t>Cinquième niveau</a:t>
            </a:r>
            <a:endParaRPr lang="fr-FR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729E10-5B70-4C9E-8133-9D7F3F4E702A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7335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1066130"/>
          </a:xfrm>
        </p:spPr>
        <p:txBody>
          <a:bodyPr/>
          <a:lstStyle/>
          <a:p>
            <a:r>
              <a:rPr lang="fr-FR" dirty="0" smtClean="0"/>
              <a:t>Cliquez pour modifier le style du titre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en-US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  <a:p>
            <a:pPr lvl="2"/>
            <a:r>
              <a:rPr lang="fr-FR" noProof="0" dirty="0" smtClean="0"/>
              <a:t>Troisième niveau</a:t>
            </a:r>
          </a:p>
          <a:p>
            <a:pPr lvl="3"/>
            <a:r>
              <a:rPr lang="fr-FR" noProof="0" dirty="0" smtClean="0"/>
              <a:t>Quatrième niveau</a:t>
            </a:r>
          </a:p>
          <a:p>
            <a:pPr lvl="4"/>
            <a:r>
              <a:rPr lang="fr-FR" noProof="0" dirty="0" smtClean="0"/>
              <a:t>Cinquième niveau</a:t>
            </a:r>
            <a:endParaRPr lang="fr-FR" noProof="0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C0F4C6-C305-463C-9883-6FE16226C828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503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jpeg"/><Relationship Id="rId5" Type="http://schemas.openxmlformats.org/officeDocument/2006/relationships/image" Target="../media/image2.emf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emf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emf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.emf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99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102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3" r:id="rId2"/>
    <p:sldLayoutId id="2147483900" r:id="rId3"/>
  </p:sldLayoutIdLst>
  <p:hf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9pPr>
    </p:titleStyle>
    <p:bodyStyle>
      <a:lvl1pPr marL="342900" indent="-3429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Font typeface="Arial" charset="0"/>
        <a:defRPr sz="2000" b="1" kern="1200">
          <a:solidFill>
            <a:schemeClr val="tx1"/>
          </a:solidFill>
          <a:latin typeface="Century Gothic" pitchFamily="34" charset="0"/>
          <a:ea typeface="Batang" pitchFamily="18" charset="-127"/>
          <a:cs typeface="+mn-cs"/>
        </a:defRPr>
      </a:lvl1pPr>
      <a:lvl2pPr marL="215900" indent="-215900" algn="l" rtl="0" eaLnBrk="0" fontAlgn="base" hangingPunct="0">
        <a:lnSpc>
          <a:spcPct val="150000"/>
        </a:lnSpc>
        <a:spcBef>
          <a:spcPts val="600"/>
        </a:spcBef>
        <a:spcAft>
          <a:spcPts val="300"/>
        </a:spcAft>
        <a:buFont typeface="Arial" charset="0"/>
        <a:defRPr sz="2000" kern="1200">
          <a:solidFill>
            <a:schemeClr val="tx1"/>
          </a:solidFill>
          <a:latin typeface="Century Gothic" pitchFamily="34" charset="0"/>
          <a:ea typeface="Batang" pitchFamily="18" charset="-127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defRPr sz="1400" kern="1200">
          <a:solidFill>
            <a:schemeClr val="tx1"/>
          </a:solidFill>
          <a:latin typeface="+mn-lt"/>
          <a:ea typeface="Batang" pitchFamily="18" charset="-127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defRPr sz="1200" kern="1200">
          <a:solidFill>
            <a:schemeClr val="tx1"/>
          </a:solidFill>
          <a:latin typeface="Century Gothic" pitchFamily="34" charset="0"/>
          <a:ea typeface="Batang" pitchFamily="18" charset="-127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Batang" pitchFamily="18" charset="-127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8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2052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 smtClean="0"/>
              <a:t>Cliquez pour modifier les styles du texte du masque</a:t>
            </a:r>
          </a:p>
          <a:p>
            <a:pPr lvl="1"/>
            <a:r>
              <a:rPr lang="fr-FR" altLang="fr-FR" dirty="0" smtClean="0"/>
              <a:t>Deuxième niveau</a:t>
            </a:r>
          </a:p>
          <a:p>
            <a:pPr lvl="2"/>
            <a:r>
              <a:rPr lang="fr-FR" altLang="fr-FR" dirty="0" smtClean="0"/>
              <a:t>Troisième niveau</a:t>
            </a:r>
          </a:p>
          <a:p>
            <a:pPr lvl="3"/>
            <a:r>
              <a:rPr lang="fr-FR" altLang="fr-FR" dirty="0" smtClean="0"/>
              <a:t>Quatrième niveau</a:t>
            </a:r>
          </a:p>
          <a:p>
            <a:pPr lvl="4"/>
            <a:r>
              <a:rPr lang="fr-FR" altLang="fr-FR" dirty="0" smtClean="0"/>
              <a:t>Cinquième niveau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0C60CE39-269A-4C5E-B9F4-43A3170E95E9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  <p:pic>
        <p:nvPicPr>
          <p:cNvPr id="2055" name="Image 3" descr="UPMC_cart blanc Q_7504-166.jp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 userDrawn="1"/>
        </p:nvSpPr>
        <p:spPr>
          <a:xfrm>
            <a:off x="1" y="38522"/>
            <a:ext cx="155733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4000" b="0" cap="none" spc="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PiSTL</a:t>
            </a:r>
            <a:endParaRPr lang="fr-FR" sz="40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1" r:id="rId2"/>
    <p:sldLayoutId id="2147483902" r:id="rId3"/>
  </p:sldLayoutIdLst>
  <p:timing>
    <p:tnLst>
      <p:par>
        <p:cTn id="1" dur="indefinite" restart="never" nodeType="tmRoot"/>
      </p:par>
    </p:tnLst>
  </p:timing>
  <p:hf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Century Gothic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 b="1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0" y="-1588"/>
            <a:ext cx="9180513" cy="1292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507413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3076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96F21E3C-4CA7-4246-9815-1266DAEBC407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</p:sldLayoutIdLst>
  <p:timing>
    <p:tnLst>
      <p:par>
        <p:cTn id="1" dur="indefinite" restart="never" nodeType="tmRoot"/>
      </p:par>
    </p:tnLst>
  </p:timing>
  <p:hf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Century Gothic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 b="1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88"/>
            <a:ext cx="9163050" cy="1292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507413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4100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AF17D9E8-113B-42C2-92CB-577324629499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</p:sldLayoutIdLst>
  <p:hf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Century Gothic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 b="1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Imag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9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507413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5124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E2A143CE-C1AE-46DD-890C-4016E6AB07A2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</p:sldLayoutIdLst>
  <p:timing>
    <p:tnLst>
      <p:par>
        <p:cTn id="1" dur="indefinite" restart="never" nodeType="tmRoot"/>
      </p:par>
    </p:tnLst>
  </p:timing>
  <p:hf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Century Gothic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 b="1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w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E1B90F8-8EE4-409B-B151-70F540DBBD73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19460" name="Titre 2"/>
          <p:cNvSpPr>
            <a:spLocks noGrp="1"/>
          </p:cNvSpPr>
          <p:nvPr>
            <p:ph type="title"/>
          </p:nvPr>
        </p:nvSpPr>
        <p:spPr>
          <a:xfrm>
            <a:off x="179388" y="274638"/>
            <a:ext cx="8462962" cy="1143000"/>
          </a:xfrm>
        </p:spPr>
        <p:txBody>
          <a:bodyPr/>
          <a:lstStyle/>
          <a:p>
            <a:pPr eaLnBrk="1" hangingPunct="1"/>
            <a:r>
              <a:rPr lang="fr-FR" dirty="0" smtClean="0"/>
              <a:t>Tableau de bord – Projet: pi-</a:t>
            </a:r>
            <a:r>
              <a:rPr lang="fr-FR" dirty="0" err="1" smtClean="0"/>
              <a:t>injector</a:t>
            </a:r>
            <a:endParaRPr lang="en-US" altLang="fr-FR" dirty="0" smtClean="0"/>
          </a:p>
        </p:txBody>
      </p:sp>
      <p:sp>
        <p:nvSpPr>
          <p:cNvPr id="19461" name="Espace réservé du contenu 3"/>
          <p:cNvSpPr>
            <a:spLocks noGrp="1"/>
          </p:cNvSpPr>
          <p:nvPr>
            <p:ph idx="1"/>
          </p:nvPr>
        </p:nvSpPr>
        <p:spPr>
          <a:xfrm>
            <a:off x="179388" y="1600200"/>
            <a:ext cx="8713092" cy="4525963"/>
          </a:xfrm>
        </p:spPr>
        <p:txBody>
          <a:bodyPr/>
          <a:lstStyle/>
          <a:p>
            <a:r>
              <a:rPr lang="fr-FR" dirty="0"/>
              <a:t>Réalisations depuis </a:t>
            </a:r>
            <a:r>
              <a:rPr lang="fr-FR" dirty="0" smtClean="0"/>
              <a:t>le 25/11/14</a:t>
            </a:r>
          </a:p>
          <a:p>
            <a:endParaRPr lang="fr-FR" b="0" i="1" dirty="0"/>
          </a:p>
          <a:p>
            <a:r>
              <a:rPr lang="fr-FR" dirty="0"/>
              <a:t>Suivi des </a:t>
            </a:r>
            <a:r>
              <a:rPr lang="fr-FR" dirty="0" smtClean="0"/>
              <a:t>activités</a:t>
            </a:r>
          </a:p>
          <a:p>
            <a:endParaRPr lang="fr-FR" dirty="0"/>
          </a:p>
          <a:p>
            <a:r>
              <a:rPr lang="fr-FR" dirty="0"/>
              <a:t>Suivi des </a:t>
            </a:r>
            <a:r>
              <a:rPr lang="fr-FR" dirty="0" smtClean="0"/>
              <a:t>charges</a:t>
            </a:r>
          </a:p>
          <a:p>
            <a:endParaRPr lang="fr-FR" dirty="0"/>
          </a:p>
          <a:p>
            <a:r>
              <a:rPr lang="fr-FR" dirty="0"/>
              <a:t>Synthèse « Météo »</a:t>
            </a:r>
            <a:endParaRPr lang="en-GB" dirty="0"/>
          </a:p>
        </p:txBody>
      </p:sp>
      <p:sp>
        <p:nvSpPr>
          <p:cNvPr id="7" name="Espace réservé du pied de page 3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dirty="0"/>
              <a:t>TB </a:t>
            </a:r>
            <a:r>
              <a:rPr lang="en-US" dirty="0" smtClean="0"/>
              <a:t>2015.01.21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143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94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9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94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1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Suivi des activités</a:t>
            </a:r>
            <a:br>
              <a:rPr lang="fr-FR" dirty="0" smtClean="0"/>
            </a:br>
            <a:r>
              <a:rPr lang="fr-FR" dirty="0" smtClean="0"/>
              <a:t>Période </a:t>
            </a:r>
            <a:r>
              <a:rPr lang="fr-FR" dirty="0"/>
              <a:t>du </a:t>
            </a:r>
            <a:r>
              <a:rPr lang="fr-FR" dirty="0" smtClean="0"/>
              <a:t>25/11/14 </a:t>
            </a:r>
            <a:r>
              <a:rPr lang="fr-FR" dirty="0"/>
              <a:t>au </a:t>
            </a:r>
            <a:r>
              <a:rPr lang="fr-FR" dirty="0" smtClean="0"/>
              <a:t>21/01/15</a:t>
            </a:r>
            <a:br>
              <a:rPr lang="fr-FR" dirty="0" smtClean="0"/>
            </a:b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7F4BBC-DD33-4EAF-A795-05B045A31A4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4246050"/>
              </p:ext>
            </p:extLst>
          </p:nvPr>
        </p:nvGraphicFramePr>
        <p:xfrm>
          <a:off x="323528" y="1340768"/>
          <a:ext cx="8640960" cy="23762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48472"/>
                <a:gridCol w="4392488"/>
              </a:tblGrid>
              <a:tr h="38234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Réalisations et événements majeurs sur la période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 smtClean="0">
                          <a:solidFill>
                            <a:srgbClr val="FF0000"/>
                          </a:solidFill>
                        </a:rPr>
                        <a:t>Réalisations</a:t>
                      </a:r>
                      <a:r>
                        <a:rPr lang="fr-FR" sz="1400" b="1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fr-FR" sz="1400" b="1" dirty="0" smtClean="0">
                          <a:solidFill>
                            <a:srgbClr val="FF0000"/>
                          </a:solidFill>
                        </a:rPr>
                        <a:t>et événements majeurs sur</a:t>
                      </a:r>
                      <a:r>
                        <a:rPr lang="fr-FR" sz="1400" b="1" baseline="0" dirty="0" smtClean="0">
                          <a:solidFill>
                            <a:srgbClr val="FF0000"/>
                          </a:solidFill>
                        </a:rPr>
                        <a:t> la période à venir</a:t>
                      </a:r>
                      <a:endParaRPr lang="en-GB" sz="1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5810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baseline="0" noProof="0" dirty="0" smtClean="0"/>
                        <a:t>- Maintenir le tableau de bord : 1j/h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baseline="0" noProof="0" dirty="0" smtClean="0"/>
                        <a:t>- Maintenir le WBS : 1j/h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baseline="0" noProof="0" dirty="0" smtClean="0"/>
                        <a:t>- Réalisation du lot 1 : 6j/h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baseline="0" noProof="0" dirty="0" smtClean="0"/>
                        <a:t>- Réunion avec le client le 08/01/15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baseline="0" noProof="0" dirty="0" smtClean="0"/>
                        <a:t>- Réalisation du kit de livraison : 9j/h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baseline="0" noProof="0" dirty="0" smtClean="0"/>
                        <a:t>- Rédiger la STR : 4j/h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baseline="0" noProof="0" dirty="0" smtClean="0"/>
                        <a:t>- Rédiger le manuel utilisateur : 3j/h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baseline="0" noProof="0" dirty="0" smtClean="0"/>
                        <a:t>- Rédiger le manuel développeur : 4j/h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baseline="0" noProof="0" dirty="0" smtClean="0"/>
                        <a:t>- Rédiger le manuel d’exploitation : 2j/h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baseline="0" noProof="0" dirty="0" smtClean="0"/>
                        <a:t>- Préparer la présentation du 30/01/15 : 2j/h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8793616"/>
              </p:ext>
            </p:extLst>
          </p:nvPr>
        </p:nvGraphicFramePr>
        <p:xfrm>
          <a:off x="323528" y="3717032"/>
          <a:ext cx="8640960" cy="24048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48472"/>
                <a:gridCol w="4392488"/>
              </a:tblGrid>
              <a:tr h="382349"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 smtClean="0">
                          <a:solidFill>
                            <a:srgbClr val="FF0000"/>
                          </a:solidFill>
                        </a:rPr>
                        <a:t>Principaux risques identifiés</a:t>
                      </a:r>
                      <a:endParaRPr lang="en-GB" sz="1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Arbitrages ou décisions demandés à la MOA ou la MOE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2251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Gros travail demandé sur les autres projets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Indisponibilité d’un ou plusieurs membres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Charge de travail estimée à 24j/h, soit 8j par personne en 9j (période de cours)</a:t>
                      </a:r>
                      <a:endParaRPr lang="fr-FR" sz="1400" b="0" i="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6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Espace réservé du pied de page 3"/>
          <p:cNvSpPr txBox="1">
            <a:spLocks/>
          </p:cNvSpPr>
          <p:nvPr/>
        </p:nvSpPr>
        <p:spPr>
          <a:xfrm>
            <a:off x="2987824" y="6381328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800" dirty="0"/>
              <a:t>TB 2015.01.21</a:t>
            </a:r>
          </a:p>
        </p:txBody>
      </p:sp>
    </p:spTree>
    <p:extLst>
      <p:ext uri="{BB962C8B-B14F-4D97-AF65-F5344CB8AC3E}">
        <p14:creationId xmlns:p14="http://schemas.microsoft.com/office/powerpoint/2010/main" val="136742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Avancement des </a:t>
            </a:r>
            <a:r>
              <a:rPr lang="fr-FR" dirty="0" smtClean="0"/>
              <a:t>tâches</a:t>
            </a:r>
            <a:br>
              <a:rPr lang="fr-FR" dirty="0" smtClean="0"/>
            </a:br>
            <a:r>
              <a:rPr lang="fr-FR" dirty="0" smtClean="0"/>
              <a:t>Période </a:t>
            </a:r>
            <a:r>
              <a:rPr lang="fr-FR" dirty="0"/>
              <a:t>du </a:t>
            </a:r>
            <a:r>
              <a:rPr lang="fr-FR" dirty="0" smtClean="0"/>
              <a:t>25/11/14 </a:t>
            </a:r>
            <a:r>
              <a:rPr lang="fr-FR" dirty="0"/>
              <a:t>au </a:t>
            </a:r>
            <a:r>
              <a:rPr lang="fr-FR" dirty="0" smtClean="0"/>
              <a:t>21/01/15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7F4BBC-DD33-4EAF-A795-05B045A31A4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034991"/>
              </p:ext>
            </p:extLst>
          </p:nvPr>
        </p:nvGraphicFramePr>
        <p:xfrm>
          <a:off x="395538" y="1628798"/>
          <a:ext cx="8424934" cy="4489962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160238"/>
                <a:gridCol w="1080120"/>
                <a:gridCol w="1008112"/>
                <a:gridCol w="1008112"/>
                <a:gridCol w="1008112"/>
                <a:gridCol w="1008112"/>
                <a:gridCol w="1152128"/>
              </a:tblGrid>
              <a:tr h="78966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Nom (et N° de</a:t>
                      </a:r>
                      <a:r>
                        <a:rPr lang="fr-FR" sz="1400" b="1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réf.)</a:t>
                      </a:r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de la tâche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Nom du responsable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Personnes affectées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Début de la tâche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Date de fin estimée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Date de fin réelle</a:t>
                      </a:r>
                      <a:endParaRPr lang="en-GB" sz="14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Avancement</a:t>
                      </a:r>
                      <a:endParaRPr lang="en-GB" sz="14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400314"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Réalisation du lot 1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T. Fleury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T. Fleury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S. </a:t>
                      </a:r>
                      <a:r>
                        <a:rPr lang="fr-FR" sz="1400" dirty="0" err="1" smtClean="0">
                          <a:solidFill>
                            <a:schemeClr val="tx1"/>
                          </a:solidFill>
                        </a:rPr>
                        <a:t>Labassi</a:t>
                      </a:r>
                      <a:endParaRPr lang="fr-FR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11/11/14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02/12/14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90%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Réalisation du lot 2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A.</a:t>
                      </a:r>
                      <a:r>
                        <a:rPr lang="fr-FR" sz="14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fr-FR" sz="1400" baseline="0" dirty="0" err="1" smtClean="0">
                          <a:solidFill>
                            <a:schemeClr val="tx1"/>
                          </a:solidFill>
                        </a:rPr>
                        <a:t>Lavaire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A. </a:t>
                      </a:r>
                      <a:r>
                        <a:rPr lang="fr-FR" sz="1400" dirty="0" err="1" smtClean="0">
                          <a:solidFill>
                            <a:schemeClr val="tx1"/>
                          </a:solidFill>
                        </a:rPr>
                        <a:t>Lavaire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02/12/14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16/12/14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95%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Manuel utilisateur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A. </a:t>
                      </a:r>
                      <a:r>
                        <a:rPr lang="fr-FR" sz="1400" dirty="0" err="1" smtClean="0">
                          <a:solidFill>
                            <a:schemeClr val="tx1"/>
                          </a:solidFill>
                        </a:rPr>
                        <a:t>Lavaire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A. </a:t>
                      </a:r>
                      <a:r>
                        <a:rPr lang="fr-FR" sz="1400" dirty="0" err="1" smtClean="0">
                          <a:solidFill>
                            <a:schemeClr val="tx1"/>
                          </a:solidFill>
                        </a:rPr>
                        <a:t>Lavaire</a:t>
                      </a:r>
                      <a:endParaRPr lang="fr-FR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22/01/15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27/01/15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0%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Manuel développeur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T. Fleury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T. Fleury</a:t>
                      </a:r>
                    </a:p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A. </a:t>
                      </a:r>
                      <a:r>
                        <a:rPr lang="fr-FR" sz="1400" dirty="0" err="1" smtClean="0">
                          <a:solidFill>
                            <a:schemeClr val="tx1"/>
                          </a:solidFill>
                        </a:rPr>
                        <a:t>Lavaire</a:t>
                      </a:r>
                      <a:endParaRPr lang="fr-FR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22/01/15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28/01/15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0%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Manuel d’exploitation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S. </a:t>
                      </a:r>
                      <a:r>
                        <a:rPr lang="fr-FR" sz="1400" dirty="0" err="1" smtClean="0">
                          <a:solidFill>
                            <a:schemeClr val="tx1"/>
                          </a:solidFill>
                        </a:rPr>
                        <a:t>Labassi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S. </a:t>
                      </a:r>
                      <a:r>
                        <a:rPr lang="fr-FR" sz="1400" dirty="0" err="1" smtClean="0">
                          <a:solidFill>
                            <a:schemeClr val="tx1"/>
                          </a:solidFill>
                        </a:rPr>
                        <a:t>Labassi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22/01/15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26/01/15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0%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Rédaction de la</a:t>
                      </a:r>
                      <a:r>
                        <a:rPr lang="fr-FR" sz="1400" baseline="0" dirty="0" smtClean="0">
                          <a:solidFill>
                            <a:schemeClr val="tx1"/>
                          </a:solidFill>
                        </a:rPr>
                        <a:t> STR</a:t>
                      </a:r>
                      <a:endParaRPr lang="fr-FR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T. Fleury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T. Fleury</a:t>
                      </a:r>
                    </a:p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S. </a:t>
                      </a:r>
                      <a:r>
                        <a:rPr lang="fr-FR" sz="1400" dirty="0" err="1" smtClean="0">
                          <a:solidFill>
                            <a:schemeClr val="tx1"/>
                          </a:solidFill>
                        </a:rPr>
                        <a:t>Labassi</a:t>
                      </a:r>
                      <a:endParaRPr lang="fr-FR" sz="140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A. </a:t>
                      </a:r>
                      <a:r>
                        <a:rPr lang="fr-FR" sz="1400" dirty="0" err="1" smtClean="0">
                          <a:solidFill>
                            <a:schemeClr val="tx1"/>
                          </a:solidFill>
                        </a:rPr>
                        <a:t>Lavaire</a:t>
                      </a:r>
                      <a:endParaRPr lang="fr-FR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22/01/15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30/01/15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15%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Réalisation du kit de livraison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T. Fleury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T. Fleury</a:t>
                      </a:r>
                    </a:p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S. </a:t>
                      </a:r>
                      <a:r>
                        <a:rPr lang="fr-FR" sz="1400" dirty="0" err="1" smtClean="0">
                          <a:solidFill>
                            <a:schemeClr val="tx1"/>
                          </a:solidFill>
                        </a:rPr>
                        <a:t>Labassi</a:t>
                      </a:r>
                      <a:endParaRPr lang="fr-FR" sz="140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A. </a:t>
                      </a:r>
                      <a:r>
                        <a:rPr lang="fr-FR" sz="1400" dirty="0" err="1" smtClean="0">
                          <a:solidFill>
                            <a:schemeClr val="tx1"/>
                          </a:solidFill>
                        </a:rPr>
                        <a:t>Lavaire</a:t>
                      </a:r>
                      <a:endParaRPr lang="fr-FR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22/01/15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30/01/15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80%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Espace réservé du pied de page 3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dirty="0"/>
              <a:t>TB 2015.01.21</a:t>
            </a:r>
          </a:p>
        </p:txBody>
      </p:sp>
    </p:spTree>
    <p:extLst>
      <p:ext uri="{BB962C8B-B14F-4D97-AF65-F5344CB8AC3E}">
        <p14:creationId xmlns:p14="http://schemas.microsoft.com/office/powerpoint/2010/main" val="2963372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9552" y="404664"/>
            <a:ext cx="8229600" cy="1143000"/>
          </a:xfrm>
        </p:spPr>
        <p:txBody>
          <a:bodyPr/>
          <a:lstStyle/>
          <a:p>
            <a:r>
              <a:rPr lang="fr-FR" dirty="0" smtClean="0"/>
              <a:t>Avancement des livrables au </a:t>
            </a:r>
            <a:r>
              <a:rPr lang="fr-FR" dirty="0" smtClean="0"/>
              <a:t>21/01/15</a:t>
            </a:r>
            <a:br>
              <a:rPr lang="fr-FR" dirty="0" smtClean="0"/>
            </a:b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7F4BBC-DD33-4EAF-A795-05B045A31A4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429057"/>
              </p:ext>
            </p:extLst>
          </p:nvPr>
        </p:nvGraphicFramePr>
        <p:xfrm>
          <a:off x="395538" y="1628798"/>
          <a:ext cx="8424934" cy="3678286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512166"/>
                <a:gridCol w="1440160"/>
                <a:gridCol w="1224136"/>
                <a:gridCol w="1008112"/>
                <a:gridCol w="1008112"/>
                <a:gridCol w="1008112"/>
                <a:gridCol w="1224136"/>
              </a:tblGrid>
              <a:tr h="78966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Nom (référence) du</a:t>
                      </a:r>
                      <a:r>
                        <a:rPr lang="fr-FR" sz="1400" b="1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livrables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Description courte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400" b="1" kern="1200" dirty="0" err="1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Valideur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Date de livraison</a:t>
                      </a:r>
                      <a:r>
                        <a:rPr lang="fr-FR" sz="1400" b="1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théorique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Date de livraison</a:t>
                      </a:r>
                      <a:r>
                        <a:rPr lang="fr-FR" sz="1400" b="1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révisée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Date de livraison</a:t>
                      </a:r>
                      <a:r>
                        <a:rPr lang="fr-FR" sz="1400" b="1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réelle</a:t>
                      </a:r>
                      <a:endParaRPr lang="en-GB" sz="14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Commentaire</a:t>
                      </a:r>
                      <a:endParaRPr lang="en-GB" sz="14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40031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STBE</a:t>
                      </a:r>
                      <a:endParaRPr lang="fr-FR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+mn-lt"/>
                        </a:rPr>
                        <a:t>E.</a:t>
                      </a:r>
                      <a:r>
                        <a:rPr lang="fr-FR" sz="140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fr-FR" sz="1400" baseline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Lécharny</a:t>
                      </a:r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+mn-lt"/>
                        </a:rPr>
                        <a:t>28/11/14</a:t>
                      </a:r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40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+mn-lt"/>
                        </a:rPr>
                        <a:t>28/11/14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+mn-lt"/>
                        </a:rPr>
                        <a:t>100%</a:t>
                      </a:r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STR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+mn-lt"/>
                        </a:rPr>
                        <a:t>30/01/15</a:t>
                      </a:r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+mn-lt"/>
                        </a:rPr>
                        <a:t>15%</a:t>
                      </a:r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4867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Kit de livraison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+mn-lt"/>
                        </a:rPr>
                        <a:t>30/01/15</a:t>
                      </a:r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+mn-lt"/>
                        </a:rPr>
                        <a:t>80%</a:t>
                      </a:r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Espace réservé du pied de page 3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dirty="0"/>
              <a:t>TB 2015.01.21</a:t>
            </a:r>
          </a:p>
        </p:txBody>
      </p:sp>
    </p:spTree>
    <p:extLst>
      <p:ext uri="{BB962C8B-B14F-4D97-AF65-F5344CB8AC3E}">
        <p14:creationId xmlns:p14="http://schemas.microsoft.com/office/powerpoint/2010/main" val="296067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Météo - Synthèse</a:t>
            </a:r>
            <a:r>
              <a:rPr lang="en-GB" dirty="0"/>
              <a:t/>
            </a:r>
            <a:br>
              <a:rPr lang="en-GB" dirty="0"/>
            </a:b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7F4BBC-DD33-4EAF-A795-05B045A31A4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839996"/>
              </p:ext>
            </p:extLst>
          </p:nvPr>
        </p:nvGraphicFramePr>
        <p:xfrm>
          <a:off x="323527" y="3861048"/>
          <a:ext cx="8640961" cy="1772229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686039"/>
                <a:gridCol w="834242"/>
                <a:gridCol w="1512168"/>
                <a:gridCol w="1296144"/>
                <a:gridCol w="3312368"/>
              </a:tblGrid>
              <a:tr h="248229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Détail par livrable</a:t>
                      </a:r>
                      <a:endParaRPr lang="en-GB" sz="14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Météo</a:t>
                      </a:r>
                      <a:endParaRPr lang="en-GB" sz="14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Tendance</a:t>
                      </a:r>
                      <a:endParaRPr lang="en-GB" sz="14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Avancement</a:t>
                      </a:r>
                      <a:endParaRPr lang="en-GB" sz="14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Commentaire</a:t>
                      </a:r>
                      <a:endParaRPr lang="en-GB" sz="14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</a:tr>
              <a:tr h="21276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4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STBE</a:t>
                      </a:r>
                      <a:endParaRPr lang="fr-FR" sz="14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100%</a:t>
                      </a:r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Validé par E. </a:t>
                      </a:r>
                      <a:r>
                        <a:rPr lang="fr-FR" sz="1400" b="0" i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Lécharny</a:t>
                      </a:r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2127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STR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15%</a:t>
                      </a:r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2127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Kit de livraison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80%</a:t>
                      </a:r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2127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400" b="0" i="0" kern="1200" dirty="0" smtClean="0">
                        <a:solidFill>
                          <a:schemeClr val="tx1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212767"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367992"/>
              </p:ext>
            </p:extLst>
          </p:nvPr>
        </p:nvGraphicFramePr>
        <p:xfrm>
          <a:off x="431520" y="1380624"/>
          <a:ext cx="8640963" cy="71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07"/>
                <a:gridCol w="960107"/>
                <a:gridCol w="960107"/>
                <a:gridCol w="960107"/>
                <a:gridCol w="960107"/>
                <a:gridCol w="960107"/>
                <a:gridCol w="960107"/>
                <a:gridCol w="960107"/>
                <a:gridCol w="960107"/>
              </a:tblGrid>
              <a:tr h="504056">
                <a:tc rowSpan="3"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Signalétique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Tendances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Amélioration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Stable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Dégradation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10872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Normal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Risque latent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Risque avéré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Blocage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57" descr="MCj04325870000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19318" y="1462071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58" descr="MCj0432588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39339" y="1462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59" descr="j043159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88412" y="1462071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60"/>
          <p:cNvPicPr>
            <a:picLocks noChangeAspect="1" noChangeArrowheads="1"/>
          </p:cNvPicPr>
          <p:nvPr/>
        </p:nvPicPr>
        <p:blipFill>
          <a:blip r:embed="rId5" cstate="print"/>
          <a:srcRect r="94710"/>
          <a:stretch>
            <a:fillRect/>
          </a:stretch>
        </p:blipFill>
        <p:spPr bwMode="auto">
          <a:xfrm>
            <a:off x="6344906" y="1407994"/>
            <a:ext cx="360000" cy="468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61"/>
          <p:cNvPicPr>
            <a:picLocks noChangeAspect="1" noChangeArrowheads="1"/>
          </p:cNvPicPr>
          <p:nvPr/>
        </p:nvPicPr>
        <p:blipFill>
          <a:blip r:embed="rId6" cstate="print"/>
          <a:srcRect r="94984"/>
          <a:stretch>
            <a:fillRect/>
          </a:stretch>
        </p:blipFill>
        <p:spPr bwMode="auto">
          <a:xfrm>
            <a:off x="8163357" y="1394091"/>
            <a:ext cx="360000" cy="49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62"/>
          <p:cNvPicPr>
            <a:picLocks noChangeAspect="1" noChangeArrowheads="1"/>
          </p:cNvPicPr>
          <p:nvPr/>
        </p:nvPicPr>
        <p:blipFill>
          <a:blip r:embed="rId7" cstate="print"/>
          <a:srcRect r="93661"/>
          <a:stretch>
            <a:fillRect/>
          </a:stretch>
        </p:blipFill>
        <p:spPr bwMode="auto">
          <a:xfrm>
            <a:off x="7243999" y="1445813"/>
            <a:ext cx="360000" cy="392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63" descr="MCj04325890000[1]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699763" y="1462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5" name="Tableau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265285"/>
              </p:ext>
            </p:extLst>
          </p:nvPr>
        </p:nvGraphicFramePr>
        <p:xfrm>
          <a:off x="323528" y="2276872"/>
          <a:ext cx="8640960" cy="1296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/>
                <a:gridCol w="3564396"/>
                <a:gridCol w="3564396"/>
              </a:tblGrid>
              <a:tr h="302308">
                <a:tc rowSpan="4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Appréciation générale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Avancement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noFill/>
                  </a:tcPr>
                </a:tc>
              </a:tr>
              <a:tr h="302308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02308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Commentaires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</a:tr>
              <a:tr h="38922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fr-FR" sz="14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Espace réservé du pied de page 3"/>
          <p:cNvSpPr txBox="1">
            <a:spLocks/>
          </p:cNvSpPr>
          <p:nvPr/>
        </p:nvSpPr>
        <p:spPr>
          <a:xfrm>
            <a:off x="3140612" y="635793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800" dirty="0"/>
              <a:t>TB 2015.01.21</a:t>
            </a:r>
          </a:p>
        </p:txBody>
      </p:sp>
      <p:pic>
        <p:nvPicPr>
          <p:cNvPr id="18" name="Picture 62"/>
          <p:cNvPicPr>
            <a:picLocks noChangeAspect="1" noChangeArrowheads="1"/>
          </p:cNvPicPr>
          <p:nvPr/>
        </p:nvPicPr>
        <p:blipFill>
          <a:blip r:embed="rId7" cstate="print"/>
          <a:srcRect r="93661"/>
          <a:stretch>
            <a:fillRect/>
          </a:stretch>
        </p:blipFill>
        <p:spPr bwMode="auto">
          <a:xfrm>
            <a:off x="1187624" y="2801218"/>
            <a:ext cx="360000" cy="392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63" descr="MCj04325890000[1]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318866" y="4117537"/>
            <a:ext cx="279110" cy="279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62"/>
          <p:cNvPicPr>
            <a:picLocks noChangeAspect="1" noChangeArrowheads="1"/>
          </p:cNvPicPr>
          <p:nvPr/>
        </p:nvPicPr>
        <p:blipFill>
          <a:blip r:embed="rId7" cstate="print"/>
          <a:srcRect r="93661"/>
          <a:stretch>
            <a:fillRect/>
          </a:stretch>
        </p:blipFill>
        <p:spPr bwMode="auto">
          <a:xfrm>
            <a:off x="3491880" y="4099733"/>
            <a:ext cx="272416" cy="296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57" descr="MCj04325870000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18865" y="4396647"/>
            <a:ext cx="282315" cy="282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57" descr="MCj04325870000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7003" y="4708286"/>
            <a:ext cx="282315" cy="282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62"/>
          <p:cNvPicPr>
            <a:picLocks noChangeAspect="1" noChangeArrowheads="1"/>
          </p:cNvPicPr>
          <p:nvPr/>
        </p:nvPicPr>
        <p:blipFill>
          <a:blip r:embed="rId7" cstate="print"/>
          <a:srcRect r="93661"/>
          <a:stretch>
            <a:fillRect/>
          </a:stretch>
        </p:blipFill>
        <p:spPr bwMode="auto">
          <a:xfrm>
            <a:off x="3508072" y="4411372"/>
            <a:ext cx="272416" cy="296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62"/>
          <p:cNvPicPr>
            <a:picLocks noChangeAspect="1" noChangeArrowheads="1"/>
          </p:cNvPicPr>
          <p:nvPr/>
        </p:nvPicPr>
        <p:blipFill>
          <a:blip r:embed="rId7" cstate="print"/>
          <a:srcRect r="93661"/>
          <a:stretch>
            <a:fillRect/>
          </a:stretch>
        </p:blipFill>
        <p:spPr bwMode="auto">
          <a:xfrm>
            <a:off x="3501564" y="4700986"/>
            <a:ext cx="272416" cy="296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57" descr="MCj04325870000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2801218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94477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4_Default Theme">
  <a:themeElements>
    <a:clrScheme name="UPMC charte graphique">
      <a:dk1>
        <a:srgbClr val="000000"/>
      </a:dk1>
      <a:lt1>
        <a:srgbClr val="FFFFFF"/>
      </a:lt1>
      <a:dk2>
        <a:srgbClr val="665546"/>
      </a:dk2>
      <a:lt2>
        <a:srgbClr val="91785B"/>
      </a:lt2>
      <a:accent1>
        <a:srgbClr val="4B92DB"/>
      </a:accent1>
      <a:accent2>
        <a:srgbClr val="644459"/>
      </a:accent2>
      <a:accent3>
        <a:srgbClr val="B6BF00"/>
      </a:accent3>
      <a:accent4>
        <a:srgbClr val="FFA02F"/>
      </a:accent4>
      <a:accent5>
        <a:srgbClr val="B5384F"/>
      </a:accent5>
      <a:accent6>
        <a:srgbClr val="D10074"/>
      </a:accent6>
      <a:hlink>
        <a:srgbClr val="00B9E4"/>
      </a:hlink>
      <a:folHlink>
        <a:srgbClr val="22505F"/>
      </a:folHlink>
    </a:clrScheme>
    <a:fontScheme name="Charte graphique UPMC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SCRIPTION0 xmlns="ba304b05-2de2-4a46-be7c-fa23123e7702">Exemple de Modele de TB-projet</DESCRIPTION0>
    <Cat_x00e9_gorie xmlns="ba304b05-2de2-4a46-be7c-fa23123e7702">Etude</Cat_x00e9_gorie>
    <Statut xmlns="ba304b05-2de2-4a46-be7c-fa23123e7702">Encours</Statut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FB27D112975140984A018D31E93D46" ma:contentTypeVersion="6" ma:contentTypeDescription="Crée un document." ma:contentTypeScope="" ma:versionID="cd1a5a7e3b4fab495c8d03ccfa007047">
  <xsd:schema xmlns:xsd="http://www.w3.org/2001/XMLSchema" xmlns:xs="http://www.w3.org/2001/XMLSchema" xmlns:p="http://schemas.microsoft.com/office/2006/metadata/properties" xmlns:ns2="ba304b05-2de2-4a46-be7c-fa23123e7702" targetNamespace="http://schemas.microsoft.com/office/2006/metadata/properties" ma:root="true" ma:fieldsID="17380a433e5f01ac948fc83ff4e94548" ns2:_="">
    <xsd:import namespace="ba304b05-2de2-4a46-be7c-fa23123e7702"/>
    <xsd:element name="properties">
      <xsd:complexType>
        <xsd:sequence>
          <xsd:element name="documentManagement">
            <xsd:complexType>
              <xsd:all>
                <xsd:element ref="ns2:DESCRIPTION0" minOccurs="0"/>
                <xsd:element ref="ns2:Statut"/>
                <xsd:element ref="ns2:Cat_x00e9_gori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304b05-2de2-4a46-be7c-fa23123e7702" elementFormDefault="qualified">
    <xsd:import namespace="http://schemas.microsoft.com/office/2006/documentManagement/types"/>
    <xsd:import namespace="http://schemas.microsoft.com/office/infopath/2007/PartnerControls"/>
    <xsd:element name="DESCRIPTION0" ma:index="8" nillable="true" ma:displayName="Description" ma:description="Description du document" ma:internalName="DESCRIPTION0">
      <xsd:simpleType>
        <xsd:restriction base="dms:Note">
          <xsd:maxLength value="255"/>
        </xsd:restriction>
      </xsd:simpleType>
    </xsd:element>
    <xsd:element name="Statut" ma:index="9" ma:displayName="Statut" ma:default="Travail" ma:description="Statut du document (Utiliser pour les projet que les documents ayant le statut &quot;Valide&quot;)" ma:format="Dropdown" ma:indexed="true" ma:internalName="Statut">
      <xsd:simpleType>
        <xsd:restriction base="dms:Choice">
          <xsd:enumeration value="Travail"/>
          <xsd:enumeration value="Encours"/>
          <xsd:enumeration value="Valide"/>
        </xsd:restriction>
      </xsd:simpleType>
    </xsd:element>
    <xsd:element name="Cat_x00e9_gorie" ma:index="10" nillable="true" ma:displayName="Catégorie" ma:default="Projet" ma:description="Catégorie d'utilisation du document" ma:format="Dropdown" ma:internalName="Cat_x00e9_gorie">
      <xsd:simpleType>
        <xsd:restriction base="dms:Choice">
          <xsd:enumeration value="Projet"/>
          <xsd:enumeration value="Admin"/>
          <xsd:enumeration value="Dév"/>
          <xsd:enumeration value="Prod"/>
          <xsd:enumeration value="Etude"/>
          <xsd:enumeration value="NADAP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4C7E9DD-FD39-4258-ACCA-161BEA3586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42E19A6-1FC2-4635-9FD1-E19332A97D89}">
  <ds:schemaRefs>
    <ds:schemaRef ds:uri="http://schemas.microsoft.com/office/infopath/2007/PartnerControls"/>
    <ds:schemaRef ds:uri="http://purl.org/dc/dcmitype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ba304b05-2de2-4a46-be7c-fa23123e7702"/>
    <ds:schemaRef ds:uri="http://purl.org/dc/terms/"/>
    <ds:schemaRef ds:uri="http://www.w3.org/XML/1998/namespace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A0A82F11-A615-41E5-B460-7C061A4C89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304b05-2de2-4a46-be7c-fa23123e77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7535</TotalTime>
  <Words>399</Words>
  <Application>Microsoft Office PowerPoint</Application>
  <PresentationFormat>Affichage à l'écran (4:3)</PresentationFormat>
  <Paragraphs>136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5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4_Default Theme</vt:lpstr>
      <vt:lpstr>Conception personnalisée</vt:lpstr>
      <vt:lpstr>1_Conception personnalisée</vt:lpstr>
      <vt:lpstr>2_Conception personnalisée</vt:lpstr>
      <vt:lpstr>3_Conception personnalisée</vt:lpstr>
      <vt:lpstr>Tableau de bord – Projet: pi-injector</vt:lpstr>
      <vt:lpstr>Suivi des activités Période du 25/11/14 au 21/01/15 </vt:lpstr>
      <vt:lpstr>Avancement des tâches Période du 25/11/14 au 21/01/15</vt:lpstr>
      <vt:lpstr>Avancement des livrables au 21/01/15 </vt:lpstr>
      <vt:lpstr>Météo - Synthèse </vt:lpstr>
    </vt:vector>
  </TitlesOfParts>
  <Manager>Christine.Viguier@admp6.jussieu.fr</Manager>
  <Company>Université P &amp; M Curie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Exemple de Modele de TB-projet</dc:title>
  <dc:subject>Pi-STL-Modele-TB</dc:subject>
  <dc:creator>Christine.Viguier@admp6.jussieu.fr</dc:creator>
  <cp:lastModifiedBy>Antoine</cp:lastModifiedBy>
  <cp:revision>197</cp:revision>
  <cp:lastPrinted>2013-11-03T19:18:17Z</cp:lastPrinted>
  <dcterms:created xsi:type="dcterms:W3CDTF">2013-05-07T09:29:44Z</dcterms:created>
  <dcterms:modified xsi:type="dcterms:W3CDTF">2015-01-24T09:06:42Z</dcterms:modified>
  <cp:category>MODELE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0x010100F4FB27D112975140984A018D31E93D46</vt:lpwstr>
  </property>
  <property fmtid="{D5CDD505-2E9C-101B-9397-08002B2CF9AE}" pid="3" name="DESCRIPTION0">
    <vt:lpwstr>Présentation NADAP 1 - MOA-</vt:lpwstr>
  </property>
  <property fmtid="{D5CDD505-2E9C-101B-9397-08002B2CF9AE}" pid="4" name="Statut">
    <vt:lpwstr>Valide</vt:lpwstr>
  </property>
  <property fmtid="{D5CDD505-2E9C-101B-9397-08002B2CF9AE}" pid="5" name="Catégorie">
    <vt:lpwstr>Etude</vt:lpwstr>
  </property>
</Properties>
</file>