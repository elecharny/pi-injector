
<file path=[Content_Types].xml><?xml version="1.0" encoding="utf-8"?>
<Types xmlns="http://schemas.openxmlformats.org/package/2006/content-types">
  <Default Extension="png" ContentType="image/png"/>
  <Default Extension="jpeg" ContentType="image/jpeg"/>
  <Default Extension="emf" ContentType="image/x-emf"/>
  <Default Extension="wmf" ContentType="image/x-wmf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theme/theme3.xml" ContentType="application/vnd.openxmlformats-officedocument.theme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4.xml" ContentType="application/vnd.openxmlformats-officedocument.theme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5.xml" ContentType="application/vnd.openxmlformats-officedocument.theme+xml"/>
  <Override PartName="/ppt/theme/theme6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9" r:id="rId4"/>
    <p:sldMasterId id="2147483750" r:id="rId5"/>
    <p:sldMasterId id="2147483764" r:id="rId6"/>
    <p:sldMasterId id="2147483777" r:id="rId7"/>
    <p:sldMasterId id="2147483790" r:id="rId8"/>
  </p:sldMasterIdLst>
  <p:notesMasterIdLst>
    <p:notesMasterId r:id="rId14"/>
  </p:notesMasterIdLst>
  <p:sldIdLst>
    <p:sldId id="276" r:id="rId9"/>
    <p:sldId id="277" r:id="rId10"/>
    <p:sldId id="278" r:id="rId11"/>
    <p:sldId id="280" r:id="rId12"/>
    <p:sldId id="281" r:id="rId13"/>
  </p:sldIdLst>
  <p:sldSz cx="9144000" cy="6858000" type="screen4x3"/>
  <p:notesSz cx="7099300" cy="10234613"/>
  <p:defaultTextStyle>
    <a:defPPr>
      <a:defRPr lang="en-US"/>
    </a:defPPr>
    <a:lvl1pPr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1pPr>
    <a:lvl2pPr marL="4572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2pPr>
    <a:lvl3pPr marL="9144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3pPr>
    <a:lvl4pPr marL="13716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4pPr>
    <a:lvl5pPr marL="1828800" algn="l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Arial" charset="0"/>
        <a:ea typeface="+mn-ea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Arial" charset="0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0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Style léger 1 - Accentuation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 horzBarState="maximized">
    <p:restoredLeft sz="15608" autoAdjust="0"/>
    <p:restoredTop sz="94705" autoAdjust="0"/>
  </p:normalViewPr>
  <p:slideViewPr>
    <p:cSldViewPr>
      <p:cViewPr>
        <p:scale>
          <a:sx n="110" d="100"/>
          <a:sy n="110" d="100"/>
        </p:scale>
        <p:origin x="-2502" y="-24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Master" Target="slideMasters/slideMaster5.xml"/><Relationship Id="rId13" Type="http://schemas.openxmlformats.org/officeDocument/2006/relationships/slide" Target="slides/slide5.xml"/><Relationship Id="rId18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Master" Target="slideMasters/slideMaster4.xml"/><Relationship Id="rId12" Type="http://schemas.openxmlformats.org/officeDocument/2006/relationships/slide" Target="slides/slide4.xml"/><Relationship Id="rId17" Type="http://schemas.openxmlformats.org/officeDocument/2006/relationships/theme" Target="theme/theme1.xml"/><Relationship Id="rId2" Type="http://schemas.openxmlformats.org/officeDocument/2006/relationships/customXml" Target="../customXml/item2.xml"/><Relationship Id="rId16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Master" Target="slideMasters/slideMaster3.xml"/><Relationship Id="rId11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15" Type="http://schemas.openxmlformats.org/officeDocument/2006/relationships/presProps" Target="presProps.xml"/><Relationship Id="rId10" Type="http://schemas.openxmlformats.org/officeDocument/2006/relationships/slide" Target="slides/slide2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1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6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4021138" y="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31E31223-ADE9-4D68-9F03-2F453132BF1D}" type="datetimeFigureOut">
              <a:rPr lang="fr-FR"/>
              <a:pPr>
                <a:defRPr/>
              </a:pPr>
              <a:t>25/11/2014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992188" y="768350"/>
            <a:ext cx="5114925" cy="383698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48" tIns="49524" rIns="99048" bIns="49524" rtlCol="0" anchor="ctr"/>
          <a:lstStyle/>
          <a:p>
            <a:pPr lvl="0"/>
            <a:endParaRPr lang="fr-FR" noProof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709613" y="4860925"/>
            <a:ext cx="5680075" cy="4605338"/>
          </a:xfrm>
          <a:prstGeom prst="rect">
            <a:avLst/>
          </a:prstGeom>
        </p:spPr>
        <p:txBody>
          <a:bodyPr vert="horz" lIns="99048" tIns="49524" rIns="99048" bIns="49524" rtlCol="0"/>
          <a:lstStyle/>
          <a:p>
            <a:pPr lvl="0"/>
            <a:r>
              <a:rPr lang="fr-FR" noProof="0" smtClean="0"/>
              <a:t>Modifiez les styles du texte du masque</a:t>
            </a:r>
          </a:p>
          <a:p>
            <a:pPr lvl="1"/>
            <a:r>
              <a:rPr lang="fr-FR" noProof="0" smtClean="0"/>
              <a:t>Deuxième niveau</a:t>
            </a:r>
          </a:p>
          <a:p>
            <a:pPr lvl="2"/>
            <a:r>
              <a:rPr lang="fr-FR" noProof="0" smtClean="0"/>
              <a:t>Troisième niveau</a:t>
            </a:r>
          </a:p>
          <a:p>
            <a:pPr lvl="3"/>
            <a:r>
              <a:rPr lang="fr-FR" noProof="0" smtClean="0"/>
              <a:t>Quatrième niveau</a:t>
            </a:r>
          </a:p>
          <a:p>
            <a:pPr lvl="4"/>
            <a:r>
              <a:rPr lang="fr-FR" noProof="0" smtClean="0"/>
              <a:t>Cinquième niveau</a:t>
            </a:r>
            <a:endParaRPr lang="fr-FR" noProof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l">
              <a:defRPr sz="1300">
                <a:latin typeface="Arial" pitchFamily="34" charset="0"/>
              </a:defRPr>
            </a:lvl1pPr>
          </a:lstStyle>
          <a:p>
            <a:pPr>
              <a:defRPr/>
            </a:pPr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4021138" y="9721850"/>
            <a:ext cx="3076575" cy="511175"/>
          </a:xfrm>
          <a:prstGeom prst="rect">
            <a:avLst/>
          </a:prstGeom>
        </p:spPr>
        <p:txBody>
          <a:bodyPr vert="horz" lIns="99048" tIns="49524" rIns="99048" bIns="49524" rtlCol="0" anchor="b"/>
          <a:lstStyle>
            <a:lvl1pPr algn="r">
              <a:defRPr sz="1300" smtClean="0">
                <a:latin typeface="Arial" pitchFamily="34" charset="0"/>
              </a:defRPr>
            </a:lvl1pPr>
          </a:lstStyle>
          <a:p>
            <a:pPr>
              <a:defRPr/>
            </a:pPr>
            <a:fld id="{E25014BA-7E69-4DF1-A456-8B7648CDD71F}" type="slidenum">
              <a:rPr lang="fr-FR"/>
              <a:pPr>
                <a:defRPr/>
              </a:pPr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232305635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fontAlgn="base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2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3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4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Master" Target="../slideMasters/slideMaster5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42935806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/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5504687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Espace réservé du texte 5"/>
          <p:cNvSpPr>
            <a:spLocks noGrp="1"/>
          </p:cNvSpPr>
          <p:nvPr>
            <p:ph type="body" sz="quarter" idx="10"/>
          </p:nvPr>
        </p:nvSpPr>
        <p:spPr>
          <a:xfrm>
            <a:off x="4859338" y="3284538"/>
            <a:ext cx="2592387" cy="1296987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2000">
                <a:solidFill>
                  <a:schemeClr val="bg1"/>
                </a:solidFill>
              </a:defRPr>
            </a:lvl1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</p:txBody>
      </p:sp>
    </p:spTree>
    <p:extLst>
      <p:ext uri="{BB962C8B-B14F-4D97-AF65-F5344CB8AC3E}">
        <p14:creationId xmlns:p14="http://schemas.microsoft.com/office/powerpoint/2010/main" val="247510625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12813789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D7F4BBC-DD33-4EAF-A795-05B045A31A4C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4235979"/>
      </p:ext>
    </p:extLst>
  </p:cSld>
  <p:clrMapOvr>
    <a:masterClrMapping/>
  </p:clrMapOvr>
  <p:timing>
    <p:tnLst>
      <p:par>
        <p:cTn id="1" dur="indefinite" restart="never" nodeType="tmRoot"/>
      </p:par>
    </p:tnLst>
  </p:timing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pied de page 4"/>
          <p:cNvSpPr>
            <a:spLocks noGrp="1"/>
          </p:cNvSpPr>
          <p:nvPr>
            <p:ph type="ftr" sz="quarter" idx="10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4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9636138-AD5F-4E29-A399-E844EF845F8F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3016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06613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Century Gothic" pitchFamily="34" charset="0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6678089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D68EFC0-3423-402B-B708-FFED42F3D37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56332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B4469B6-F905-4DD1-9521-B816AF7D40C3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78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282687147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E0459819-6027-45BE-9692-27918BA0DA2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321134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6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D7D47D34-CF79-4062-8B39-4EA03315C9B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29103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Cliquez pour modifier le style du titre</a:t>
            </a:r>
            <a:endParaRPr lang="en-US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555B8B3-60A9-43B3-B6DB-7480FFDB604E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93757625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79512" y="274638"/>
            <a:ext cx="8784976" cy="1143000"/>
          </a:xfrm>
        </p:spPr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179512" y="1600200"/>
            <a:ext cx="5184576" cy="4525963"/>
          </a:xfrm>
        </p:spPr>
        <p:txBody>
          <a:bodyPr/>
          <a:lstStyle>
            <a:lvl1pPr marL="0"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1pPr>
            <a:lvl2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2pPr>
            <a:lvl3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3pPr>
            <a:lvl4pPr indent="0">
              <a:lnSpc>
                <a:spcPct val="150000"/>
              </a:lnSpc>
              <a:spcBef>
                <a:spcPts val="600"/>
              </a:spcBef>
              <a:spcAft>
                <a:spcPts val="300"/>
              </a:spcAft>
              <a:defRPr/>
            </a:lvl4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</p:txBody>
      </p:sp>
      <p:sp>
        <p:nvSpPr>
          <p:cNvPr id="9" name="Espace réservé du texte 8"/>
          <p:cNvSpPr>
            <a:spLocks noGrp="1"/>
          </p:cNvSpPr>
          <p:nvPr>
            <p:ph type="body" sz="quarter" idx="13"/>
          </p:nvPr>
        </p:nvSpPr>
        <p:spPr>
          <a:xfrm>
            <a:off x="5868144" y="4077073"/>
            <a:ext cx="2880569" cy="2160216"/>
          </a:xfrm>
        </p:spPr>
        <p:txBody>
          <a:bodyPr/>
          <a:lstStyle>
            <a:lvl1pPr marL="0" indent="0">
              <a:spcBef>
                <a:spcPts val="600"/>
              </a:spcBef>
              <a:spcAft>
                <a:spcPts val="300"/>
              </a:spcAft>
              <a:defRPr sz="1400">
                <a:solidFill>
                  <a:schemeClr val="bg1"/>
                </a:solidFill>
                <a:latin typeface="+mn-lt"/>
              </a:defRPr>
            </a:lvl1pPr>
            <a:lvl2pPr>
              <a:buFont typeface="Wingdings" pitchFamily="2" charset="2"/>
              <a:buChar char="Ø"/>
              <a:defRPr sz="1200">
                <a:solidFill>
                  <a:schemeClr val="bg1"/>
                </a:solidFill>
                <a:latin typeface="Century Gothic" pitchFamily="34" charset="0"/>
              </a:defRPr>
            </a:lvl2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4046924260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Image 7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noProof="0" dirty="0" smtClean="0"/>
              <a:t>Cliquez pour modifier le style du titre</a:t>
            </a:r>
            <a:endParaRPr lang="fr-FR" noProof="0" dirty="0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41729E10-5B70-4C9E-8133-9D7F3F4E702A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4733590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 3" descr="UPMC_cart blanc Q_7504-166.jpg"/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507288" cy="1066130"/>
          </a:xfrm>
        </p:spPr>
        <p:txBody>
          <a:bodyPr/>
          <a:lstStyle/>
          <a:p>
            <a:r>
              <a:rPr lang="fr-FR" dirty="0" smtClean="0"/>
              <a:t>Cliquez pour modifier le style du titre</a:t>
            </a:r>
            <a:endParaRPr lang="en-US" dirty="0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dirty="0" smtClean="0"/>
              <a:t>Cliquez pour modifier les styles du texte du masque</a:t>
            </a:r>
          </a:p>
          <a:p>
            <a:pPr lvl="1"/>
            <a:r>
              <a:rPr lang="fr-FR" dirty="0" smtClean="0"/>
              <a:t>Deuxième niveau</a:t>
            </a:r>
          </a:p>
          <a:p>
            <a:pPr lvl="2"/>
            <a:r>
              <a:rPr lang="fr-FR" dirty="0" smtClean="0"/>
              <a:t>Troisième niveau</a:t>
            </a:r>
          </a:p>
          <a:p>
            <a:pPr lvl="3"/>
            <a:r>
              <a:rPr lang="fr-FR" dirty="0" smtClean="0"/>
              <a:t>Quatrième niveau</a:t>
            </a:r>
          </a:p>
          <a:p>
            <a:pPr lvl="4"/>
            <a:r>
              <a:rPr lang="fr-FR" dirty="0" smtClean="0"/>
              <a:t>Cinquième niveau</a:t>
            </a:r>
            <a:endParaRPr lang="en-US" dirty="0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noProof="0" dirty="0" smtClean="0"/>
              <a:t>Cliquez pour modifier les styles du texte du masque</a:t>
            </a:r>
          </a:p>
          <a:p>
            <a:pPr lvl="1"/>
            <a:r>
              <a:rPr lang="fr-FR" noProof="0" dirty="0" smtClean="0"/>
              <a:t>Deuxième niveau</a:t>
            </a:r>
          </a:p>
          <a:p>
            <a:pPr lvl="2"/>
            <a:r>
              <a:rPr lang="fr-FR" noProof="0" dirty="0" smtClean="0"/>
              <a:t>Troisième niveau</a:t>
            </a:r>
          </a:p>
          <a:p>
            <a:pPr lvl="3"/>
            <a:r>
              <a:rPr lang="fr-FR" noProof="0" dirty="0" smtClean="0"/>
              <a:t>Quatrième niveau</a:t>
            </a:r>
          </a:p>
          <a:p>
            <a:pPr lvl="4"/>
            <a:r>
              <a:rPr lang="fr-FR" noProof="0" dirty="0" smtClean="0"/>
              <a:t>Cinquième niveau</a:t>
            </a:r>
            <a:endParaRPr lang="fr-FR" noProof="0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0"/>
          </p:nvPr>
        </p:nvSpPr>
        <p:spPr/>
        <p:txBody>
          <a:bodyPr/>
          <a:lstStyle>
            <a:lvl1pPr>
              <a:defRPr smtClean="0"/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CC0F4C6-C305-463C-9883-6FE16226C828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35036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6.xml"/><Relationship Id="rId2" Type="http://schemas.openxmlformats.org/officeDocument/2006/relationships/slideLayout" Target="../slideLayouts/slideLayout5.xml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.jpeg"/><Relationship Id="rId5" Type="http://schemas.openxmlformats.org/officeDocument/2006/relationships/image" Target="../media/image2.emf"/><Relationship Id="rId4" Type="http://schemas.openxmlformats.org/officeDocument/2006/relationships/theme" Target="../theme/theme2.xml"/></Relationships>
</file>

<file path=ppt/slideMasters/_rels/slideMaster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9.xml"/><Relationship Id="rId2" Type="http://schemas.openxmlformats.org/officeDocument/2006/relationships/slideLayout" Target="../slideLayouts/slideLayout8.xml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.emf"/><Relationship Id="rId4" Type="http://schemas.openxmlformats.org/officeDocument/2006/relationships/theme" Target="../theme/theme3.xml"/></Relationships>
</file>

<file path=ppt/slideMasters/_rels/slideMaster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1.xml"/><Relationship Id="rId1" Type="http://schemas.openxmlformats.org/officeDocument/2006/relationships/slideLayout" Target="../slideLayouts/slideLayout10.xml"/><Relationship Id="rId6" Type="http://schemas.openxmlformats.org/officeDocument/2006/relationships/image" Target="../media/image4.emf"/><Relationship Id="rId5" Type="http://schemas.openxmlformats.org/officeDocument/2006/relationships/theme" Target="../theme/theme4.xml"/><Relationship Id="rId4" Type="http://schemas.openxmlformats.org/officeDocument/2006/relationships/slideLayout" Target="../slideLayouts/slideLayout13.xml"/></Relationships>
</file>

<file path=ppt/slideMasters/_rels/slideMaster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6.xml"/><Relationship Id="rId2" Type="http://schemas.openxmlformats.org/officeDocument/2006/relationships/slideLayout" Target="../slideLayouts/slideLayout15.xml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5.emf"/><Relationship Id="rId4" Type="http://schemas.openxmlformats.org/officeDocument/2006/relationships/theme" Target="../theme/theme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993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1027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899" r:id="rId1"/>
    <p:sldLayoutId id="2147483903" r:id="rId2"/>
    <p:sldLayoutId id="2147483900" r:id="rId3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lnSpc>
          <a:spcPct val="150000"/>
        </a:lnSpc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1pPr>
      <a:lvl2pPr marL="215900" indent="-215900" algn="l" rtl="0" eaLnBrk="0" fontAlgn="base" hangingPunct="0">
        <a:lnSpc>
          <a:spcPct val="150000"/>
        </a:lnSpc>
        <a:spcBef>
          <a:spcPts val="600"/>
        </a:spcBef>
        <a:spcAft>
          <a:spcPts val="30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400" kern="1200">
          <a:solidFill>
            <a:schemeClr val="tx1"/>
          </a:solidFill>
          <a:latin typeface="+mn-lt"/>
          <a:ea typeface="Batang" pitchFamily="18" charset="-127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1200" kern="1200">
          <a:solidFill>
            <a:schemeClr val="tx1"/>
          </a:solidFill>
          <a:latin typeface="Century Gothic" pitchFamily="34" charset="0"/>
          <a:ea typeface="Batang" pitchFamily="18" charset="-127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Batang" pitchFamily="18" charset="-127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89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051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2052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dirty="0" smtClean="0"/>
              <a:t>Cliquez pour modifier les styles du texte du masque</a:t>
            </a:r>
          </a:p>
          <a:p>
            <a:pPr lvl="1"/>
            <a:r>
              <a:rPr lang="fr-FR" altLang="fr-FR" dirty="0" smtClean="0"/>
              <a:t>Deuxième niveau</a:t>
            </a:r>
          </a:p>
          <a:p>
            <a:pPr lvl="2"/>
            <a:r>
              <a:rPr lang="fr-FR" altLang="fr-FR" dirty="0" smtClean="0"/>
              <a:t>Troisième niveau</a:t>
            </a:r>
          </a:p>
          <a:p>
            <a:pPr lvl="3"/>
            <a:r>
              <a:rPr lang="fr-FR" altLang="fr-FR" dirty="0" smtClean="0"/>
              <a:t>Quatrième niveau</a:t>
            </a:r>
          </a:p>
          <a:p>
            <a:pPr lvl="4"/>
            <a:r>
              <a:rPr lang="fr-FR" altLang="fr-FR" dirty="0" smtClean="0"/>
              <a:t>Cinquième niveau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0C60CE39-269A-4C5E-B9F4-43A3170E95E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  <p:pic>
        <p:nvPicPr>
          <p:cNvPr id="2055" name="Image 3" descr="UPMC_cart blanc Q_7504-166.jpg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6076950"/>
            <a:ext cx="1557338" cy="78105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" name="Rectangle 1"/>
          <p:cNvSpPr/>
          <p:nvPr userDrawn="1"/>
        </p:nvSpPr>
        <p:spPr>
          <a:xfrm>
            <a:off x="1" y="38522"/>
            <a:ext cx="1557337" cy="707886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fr-FR" sz="4000" b="0" cap="none" spc="0" dirty="0" err="1" smtClean="0">
                <a:ln w="18415" cmpd="sng">
                  <a:solidFill>
                    <a:srgbClr val="FFFFFF"/>
                  </a:solidFill>
                  <a:prstDash val="solid"/>
                </a:ln>
                <a:solidFill>
                  <a:srgbClr val="FFFFFF"/>
                </a:solidFill>
                <a:effectLst>
                  <a:outerShdw blurRad="63500" dir="3600000" algn="tl" rotWithShape="0">
                    <a:srgbClr val="000000">
                      <a:alpha val="70000"/>
                    </a:srgbClr>
                  </a:outerShdw>
                </a:effectLst>
                <a:latin typeface="+mn-lt"/>
              </a:rPr>
              <a:t>PiSTL</a:t>
            </a:r>
            <a:endParaRPr lang="fr-FR" sz="4000" b="0" cap="none" spc="0" dirty="0">
              <a:ln w="18415" cmpd="sng">
                <a:solidFill>
                  <a:srgbClr val="FFFFFF"/>
                </a:solidFill>
                <a:prstDash val="solid"/>
              </a:ln>
              <a:solidFill>
                <a:srgbClr val="FFFFFF"/>
              </a:solidFill>
              <a:effectLst>
                <a:outerShdw blurRad="63500" dir="3600000" algn="tl" rotWithShape="0">
                  <a:srgbClr val="000000">
                    <a:alpha val="70000"/>
                  </a:srgbClr>
                </a:outerShdw>
              </a:effectLst>
              <a:latin typeface="+mn-lt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4" r:id="rId1"/>
    <p:sldLayoutId id="2147483901" r:id="rId2"/>
    <p:sldLayoutId id="2147483902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4" name="Image 4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12700" y="-1588"/>
            <a:ext cx="9180513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075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3076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96F21E3C-4CA7-4246-9815-1266DAEBC407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5" r:id="rId1"/>
    <p:sldLayoutId id="2147483906" r:id="rId2"/>
    <p:sldLayoutId id="2147483907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098" name="Image 4"/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588"/>
            <a:ext cx="9163050" cy="1292226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4099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4100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AF17D9E8-113B-42C2-92CB-577324629499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08" r:id="rId1"/>
    <p:sldLayoutId id="2147483909" r:id="rId2"/>
    <p:sldLayoutId id="2147483910" r:id="rId3"/>
    <p:sldLayoutId id="2147483911" r:id="rId4"/>
  </p:sldLayoutIdLst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22" name="Image 5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0"/>
            <a:ext cx="9144000" cy="12906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5123" name="Espace réservé du titre 1"/>
          <p:cNvSpPr>
            <a:spLocks noGrp="1"/>
          </p:cNvSpPr>
          <p:nvPr>
            <p:ph type="title"/>
          </p:nvPr>
        </p:nvSpPr>
        <p:spPr bwMode="auto">
          <a:xfrm>
            <a:off x="457200" y="274638"/>
            <a:ext cx="8507413" cy="10668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 style du titre</a:t>
            </a:r>
          </a:p>
        </p:txBody>
      </p:sp>
      <p:sp>
        <p:nvSpPr>
          <p:cNvPr id="5124" name="Espace réservé du texte 2"/>
          <p:cNvSpPr>
            <a:spLocks noGrp="1"/>
          </p:cNvSpPr>
          <p:nvPr>
            <p:ph type="body" idx="1"/>
          </p:nvPr>
        </p:nvSpPr>
        <p:spPr bwMode="auto"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fr-FR" altLang="fr-FR" smtClean="0"/>
              <a:t>Cliquez pour modifier les styles du texte du masque</a:t>
            </a:r>
          </a:p>
          <a:p>
            <a:pPr lvl="1"/>
            <a:r>
              <a:rPr lang="fr-FR" altLang="fr-FR" smtClean="0"/>
              <a:t>Deuxième niveau</a:t>
            </a:r>
          </a:p>
          <a:p>
            <a:pPr lvl="2"/>
            <a:r>
              <a:rPr lang="fr-FR" altLang="fr-FR" smtClean="0"/>
              <a:t>Troisième niveau</a:t>
            </a:r>
          </a:p>
          <a:p>
            <a:pPr lvl="3"/>
            <a:r>
              <a:rPr lang="fr-FR" altLang="fr-FR" smtClean="0"/>
              <a:t>Quatrième niveau</a:t>
            </a:r>
          </a:p>
          <a:p>
            <a:pPr lvl="4"/>
            <a:r>
              <a:rPr lang="fr-FR" altLang="fr-FR" smtClean="0"/>
              <a:t>Cinquième niveau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 smtClean="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r>
              <a:rPr lang="fr-FR" smtClean="0"/>
              <a:t>NADAP 1.0 – 13/02/2014</a:t>
            </a:r>
            <a:endParaRPr lang="en-US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  <a:latin typeface="Arial" pitchFamily="34" charset="0"/>
              </a:defRPr>
            </a:lvl1pPr>
          </a:lstStyle>
          <a:p>
            <a:pPr>
              <a:defRPr/>
            </a:pPr>
            <a:fld id="{E2A143CE-C1AE-46DD-890C-4016E6AB07A2}" type="slidenum">
              <a:rPr lang="en-US"/>
              <a:pPr>
                <a:defRPr/>
              </a:pPr>
              <a:t>‹N°›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12" r:id="rId1"/>
    <p:sldLayoutId id="2147483913" r:id="rId2"/>
    <p:sldLayoutId id="2147483914" r:id="rId3"/>
  </p:sldLayoutIdLst>
  <p:timing>
    <p:tnLst>
      <p:par>
        <p:cTn id="1" dur="indefinite" restart="never" nodeType="tmRoot"/>
      </p:par>
    </p:tnLst>
  </p:timing>
  <p:hf hdr="0" dt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 b="1" kern="1200">
          <a:solidFill>
            <a:schemeClr val="bg1"/>
          </a:solidFill>
          <a:latin typeface="Century Gothic" pitchFamily="34" charset="0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5pPr>
      <a:lvl6pPr marL="4572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6pPr>
      <a:lvl7pPr marL="9144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7pPr>
      <a:lvl8pPr marL="13716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8pPr>
      <a:lvl9pPr marL="1828800" algn="r" rtl="0" fontAlgn="base">
        <a:spcBef>
          <a:spcPct val="0"/>
        </a:spcBef>
        <a:spcAft>
          <a:spcPct val="0"/>
        </a:spcAft>
        <a:defRPr sz="3200" b="1">
          <a:solidFill>
            <a:schemeClr val="bg1"/>
          </a:solidFill>
          <a:latin typeface="Century Gothic" pitchFamily="34" charset="0"/>
        </a:defRPr>
      </a:lvl9pPr>
    </p:titleStyle>
    <p:bodyStyle>
      <a:lvl1pPr marL="342900" indent="-34290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b="1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1pPr>
      <a:lvl2pPr marL="742950" indent="-285750" algn="l" rtl="0" eaLnBrk="0" fontAlgn="base" hangingPunct="0">
        <a:spcBef>
          <a:spcPct val="20000"/>
        </a:spcBef>
        <a:spcAft>
          <a:spcPct val="0"/>
        </a:spcAft>
        <a:buFont typeface="Arial" charset="0"/>
        <a:defRPr sz="20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2pPr>
      <a:lvl3pPr marL="11430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•"/>
        <a:defRPr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3pPr>
      <a:lvl4pPr marL="16002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–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4pPr>
      <a:lvl5pPr marL="2057400" indent="-228600" algn="l" rtl="0" eaLnBrk="0" fontAlgn="base" hangingPunct="0">
        <a:spcBef>
          <a:spcPct val="20000"/>
        </a:spcBef>
        <a:spcAft>
          <a:spcPct val="0"/>
        </a:spcAft>
        <a:buFont typeface="Arial" charset="0"/>
        <a:buChar char="»"/>
        <a:defRPr sz="1600" kern="1200">
          <a:solidFill>
            <a:schemeClr val="tx1"/>
          </a:solidFill>
          <a:latin typeface="Century Gothic" pitchFamily="34" charset="0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wmf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10.wmf"/><Relationship Id="rId5" Type="http://schemas.openxmlformats.org/officeDocument/2006/relationships/image" Target="../media/image9.wmf"/><Relationship Id="rId4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FE1B90F8-8EE4-409B-B151-70F540DBBD73}" type="slidenum">
              <a:rPr lang="en-US" smtClean="0"/>
              <a:pPr>
                <a:defRPr/>
              </a:pPr>
              <a:t>1</a:t>
            </a:fld>
            <a:endParaRPr lang="en-US"/>
          </a:p>
        </p:txBody>
      </p:sp>
      <p:sp>
        <p:nvSpPr>
          <p:cNvPr id="19460" name="Titre 2"/>
          <p:cNvSpPr>
            <a:spLocks noGrp="1"/>
          </p:cNvSpPr>
          <p:nvPr>
            <p:ph type="title"/>
          </p:nvPr>
        </p:nvSpPr>
        <p:spPr>
          <a:xfrm>
            <a:off x="179388" y="274638"/>
            <a:ext cx="8462962" cy="1143000"/>
          </a:xfrm>
        </p:spPr>
        <p:txBody>
          <a:bodyPr/>
          <a:lstStyle/>
          <a:p>
            <a:pPr eaLnBrk="1" hangingPunct="1"/>
            <a:r>
              <a:rPr lang="fr-FR" dirty="0" smtClean="0"/>
              <a:t>Tableau de bord – Projet: pi-</a:t>
            </a:r>
            <a:r>
              <a:rPr lang="fr-FR" dirty="0" err="1" smtClean="0"/>
              <a:t>injector</a:t>
            </a:r>
            <a:endParaRPr lang="en-US" altLang="fr-FR" dirty="0" smtClean="0"/>
          </a:p>
        </p:txBody>
      </p:sp>
      <p:sp>
        <p:nvSpPr>
          <p:cNvPr id="19461" name="Espace réservé du contenu 3"/>
          <p:cNvSpPr>
            <a:spLocks noGrp="1"/>
          </p:cNvSpPr>
          <p:nvPr>
            <p:ph idx="1"/>
          </p:nvPr>
        </p:nvSpPr>
        <p:spPr>
          <a:xfrm>
            <a:off x="179388" y="1600200"/>
            <a:ext cx="8713092" cy="4525963"/>
          </a:xfrm>
        </p:spPr>
        <p:txBody>
          <a:bodyPr/>
          <a:lstStyle/>
          <a:p>
            <a:r>
              <a:rPr lang="fr-FR" dirty="0"/>
              <a:t>Réalisations depuis </a:t>
            </a:r>
            <a:r>
              <a:rPr lang="fr-FR" dirty="0" smtClean="0"/>
              <a:t>le 28/10/14</a:t>
            </a:r>
          </a:p>
          <a:p>
            <a:endParaRPr lang="fr-FR" b="0" i="1" dirty="0"/>
          </a:p>
          <a:p>
            <a:r>
              <a:rPr lang="fr-FR" dirty="0"/>
              <a:t>Suivi des </a:t>
            </a:r>
            <a:r>
              <a:rPr lang="fr-FR" dirty="0" smtClean="0"/>
              <a:t>activités</a:t>
            </a:r>
          </a:p>
          <a:p>
            <a:endParaRPr lang="fr-FR" dirty="0"/>
          </a:p>
          <a:p>
            <a:r>
              <a:rPr lang="fr-FR" dirty="0"/>
              <a:t>Suivi des </a:t>
            </a:r>
            <a:r>
              <a:rPr lang="fr-FR" dirty="0" smtClean="0"/>
              <a:t>charges</a:t>
            </a:r>
          </a:p>
          <a:p>
            <a:endParaRPr lang="fr-FR" dirty="0"/>
          </a:p>
          <a:p>
            <a:r>
              <a:rPr lang="fr-FR" dirty="0"/>
              <a:t>Synthèse « Météo »</a:t>
            </a:r>
            <a:endParaRPr lang="en-GB" dirty="0"/>
          </a:p>
        </p:txBody>
      </p:sp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</a:t>
            </a:r>
            <a:r>
              <a:rPr lang="en-US" dirty="0" smtClean="0"/>
              <a:t>2014.11.11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31438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7" dur="500"/>
                                        <p:tgtEl>
                                          <p:spTgt spid="194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500"/>
                            </p:stCondLst>
                            <p:childTnLst>
                              <p:par>
                                <p:cTn id="9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1" dur="500"/>
                                        <p:tgtEl>
                                          <p:spTgt spid="19461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2" fill="hold">
                            <p:stCondLst>
                              <p:cond delay="1000"/>
                            </p:stCondLst>
                            <p:childTnLst>
                              <p:par>
                                <p:cTn id="13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5" dur="500"/>
                                        <p:tgtEl>
                                          <p:spTgt spid="19461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16" fill="hold">
                            <p:stCondLst>
                              <p:cond delay="1500"/>
                            </p:stCondLst>
                            <p:childTnLst>
                              <p:par>
                                <p:cTn id="17" presetID="22" presetClass="entr" presetSubtype="4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down)">
                                      <p:cBhvr>
                                        <p:cTn id="19" dur="500"/>
                                        <p:tgtEl>
                                          <p:spTgt spid="19461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461" grpId="0" uiExpand="1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Suivi des activités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28/10/14 au </a:t>
            </a:r>
            <a:r>
              <a:rPr lang="fr-FR" dirty="0" smtClean="0"/>
              <a:t>11/11/14</a:t>
            </a:r>
            <a:br>
              <a:rPr lang="fr-FR" dirty="0" smtClean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2</a:t>
            </a:fld>
            <a:endParaRPr lang="en-US"/>
          </a:p>
        </p:txBody>
      </p:sp>
      <p:graphicFrame>
        <p:nvGraphicFramePr>
          <p:cNvPr id="6" name="Espace réservé du contenu 5"/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2835892918"/>
              </p:ext>
            </p:extLst>
          </p:nvPr>
        </p:nvGraphicFramePr>
        <p:xfrm>
          <a:off x="323528" y="1340768"/>
          <a:ext cx="8640960" cy="23762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Réalisations et événements majeurs sur la période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Réalisations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</a:t>
                      </a:r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et événements majeurs sur</a:t>
                      </a:r>
                      <a:r>
                        <a:rPr lang="fr-FR" sz="1400" b="1" baseline="0" dirty="0" smtClean="0">
                          <a:solidFill>
                            <a:srgbClr val="FF0000"/>
                          </a:solidFill>
                        </a:rPr>
                        <a:t> la période à venir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185810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Tester les logiciels à utiliser : 8j/h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en place de l’environnement de test : 5j/h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</a:t>
                      </a:r>
                      <a:r>
                        <a:rPr lang="fr-FR" sz="1400" b="0" i="0" baseline="0" noProof="0" dirty="0" smtClean="0"/>
                        <a:t>Réunion avec le client le 28/10/14</a:t>
                      </a:r>
                      <a:endParaRPr lang="fr-FR" sz="1400" b="0" i="0" baseline="0" noProof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Maintenir le tableau de bord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Rédaction du WBS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Conception </a:t>
                      </a:r>
                      <a:r>
                        <a:rPr lang="fr-FR" sz="1400" b="0" i="0" baseline="0" noProof="0" dirty="0" smtClean="0"/>
                        <a:t>architecturale </a:t>
                      </a:r>
                      <a:r>
                        <a:rPr lang="fr-FR" sz="1400" b="0" i="0" baseline="0" noProof="0" dirty="0" smtClean="0"/>
                        <a:t>: 7j/h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Mise en place des prototypes : 6j/h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Rédiger un manuel utilisateur pour le test du serveur : 1j/h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baseline="0" noProof="0" dirty="0" smtClean="0"/>
                        <a:t>- Réunion avec le client le 14/11/14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baseline="0" noProof="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12755841"/>
              </p:ext>
            </p:extLst>
          </p:nvPr>
        </p:nvGraphicFramePr>
        <p:xfrm>
          <a:off x="323528" y="3717032"/>
          <a:ext cx="8640960" cy="2404864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248472"/>
                <a:gridCol w="4392488"/>
              </a:tblGrid>
              <a:tr h="382349">
                <a:tc>
                  <a:txBody>
                    <a:bodyPr/>
                    <a:lstStyle/>
                    <a:p>
                      <a:pPr algn="ctr"/>
                      <a:r>
                        <a:rPr lang="fr-FR" sz="1400" b="1" dirty="0" smtClean="0">
                          <a:solidFill>
                            <a:srgbClr val="FF0000"/>
                          </a:solidFill>
                        </a:rPr>
                        <a:t>Principaux risques identifiés</a:t>
                      </a:r>
                      <a:endParaRPr lang="en-GB" sz="1400" b="1" dirty="0">
                        <a:solidFill>
                          <a:srgbClr val="FF0000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Arbitrages ou décisions demandés à la MOA ou la MOE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</a:tr>
              <a:tr h="2022515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baseline="0" noProof="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- Avancement des deadlines des autres projets</a:t>
                      </a:r>
                      <a:endParaRPr lang="fr-FR" sz="1600" b="0" i="1" kern="1200" baseline="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600" dirty="0" smtClean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Espace réservé du pied de page 3"/>
          <p:cNvSpPr txBox="1">
            <a:spLocks/>
          </p:cNvSpPr>
          <p:nvPr/>
        </p:nvSpPr>
        <p:spPr>
          <a:xfrm>
            <a:off x="2987824" y="6381328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>
                <a:solidFill>
                  <a:schemeClr val="tx1"/>
                </a:solidFill>
              </a:rPr>
              <a:t>TB 2014.11.11</a:t>
            </a:r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67428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/>
              <a:t>Avancement des </a:t>
            </a:r>
            <a:r>
              <a:rPr lang="fr-FR" dirty="0" smtClean="0"/>
              <a:t>tâches</a:t>
            </a:r>
            <a:br>
              <a:rPr lang="fr-FR" dirty="0" smtClean="0"/>
            </a:br>
            <a:r>
              <a:rPr lang="fr-FR" dirty="0" smtClean="0"/>
              <a:t>Période </a:t>
            </a:r>
            <a:r>
              <a:rPr lang="fr-FR" dirty="0"/>
              <a:t>du 28/10/14 au 11/11/14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3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2808368"/>
              </p:ext>
            </p:extLst>
          </p:nvPr>
        </p:nvGraphicFramePr>
        <p:xfrm>
          <a:off x="395538" y="1628798"/>
          <a:ext cx="8424934" cy="3689334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2160238"/>
                <a:gridCol w="1080120"/>
                <a:gridCol w="1008112"/>
                <a:gridCol w="1008112"/>
                <a:gridCol w="1008112"/>
                <a:gridCol w="1008112"/>
                <a:gridCol w="1152128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(et N° de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réf.)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du responsable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Personnes affectées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Début de la tâche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estimée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fin 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b="0" i="0" baseline="0" noProof="0" dirty="0" smtClean="0"/>
                        <a:t>Etablir une grille de lecture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Conception architecturale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 Fleury</a:t>
                      </a: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baseline="0" dirty="0" smtClean="0">
                        <a:solidFill>
                          <a:schemeClr val="tx1"/>
                        </a:solidFill>
                      </a:endParaRPr>
                    </a:p>
                    <a:p>
                      <a:r>
                        <a:rPr lang="fr-FR" sz="1400" baseline="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/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100%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 l’environnement de test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S.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Labassi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A. </a:t>
                      </a:r>
                      <a:r>
                        <a:rPr lang="fr-FR" sz="1400" dirty="0" err="1" smtClean="0">
                          <a:solidFill>
                            <a:schemeClr val="tx1"/>
                          </a:solidFill>
                        </a:rPr>
                        <a:t>Lavaire</a:t>
                      </a:r>
                      <a:endParaRPr lang="fr-FR" sz="1400" dirty="0" smtClean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11/11/14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67%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Mise en place des prototypes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T. Fleury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28/10/14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18/11/14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</a:rPr>
                        <a:t>50%</a:t>
                      </a:r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9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2014.11.11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37216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539552" y="404664"/>
            <a:ext cx="8229600" cy="1143000"/>
          </a:xfrm>
        </p:spPr>
        <p:txBody>
          <a:bodyPr/>
          <a:lstStyle/>
          <a:p>
            <a:r>
              <a:rPr lang="fr-FR" dirty="0" smtClean="0"/>
              <a:t>Avancement des livrables au 11/11/14 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4</a:t>
            </a:fld>
            <a:endParaRPr lang="en-US"/>
          </a:p>
        </p:txBody>
      </p:sp>
      <p:graphicFrame>
        <p:nvGraphicFramePr>
          <p:cNvPr id="8" name="Tableau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94116460"/>
              </p:ext>
            </p:extLst>
          </p:nvPr>
        </p:nvGraphicFramePr>
        <p:xfrm>
          <a:off x="395538" y="1628798"/>
          <a:ext cx="8424934" cy="3678286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512166"/>
                <a:gridCol w="1440160"/>
                <a:gridCol w="1224136"/>
                <a:gridCol w="1008112"/>
                <a:gridCol w="1008112"/>
                <a:gridCol w="1008112"/>
                <a:gridCol w="1224136"/>
              </a:tblGrid>
              <a:tr h="789660"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Nom (référence) du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livrables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Description courte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en-GB" sz="1400" b="1" kern="1200" dirty="0" err="1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Valideur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théorique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révisée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Date de livraison</a:t>
                      </a:r>
                      <a:r>
                        <a:rPr lang="fr-FR" sz="1400" b="1" kern="1200" baseline="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 </a:t>
                      </a: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réelle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</a:t>
                      </a:r>
                      <a:endParaRPr lang="en-GB" sz="1400" b="1" kern="1200" dirty="0" smtClean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</a:tr>
              <a:tr h="400314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E.</a:t>
                      </a:r>
                      <a:r>
                        <a:rPr lang="fr-FR" sz="1400" baseline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 </a:t>
                      </a:r>
                      <a:r>
                        <a:rPr lang="fr-FR" sz="1400" baseline="0" dirty="0" err="1" smtClean="0">
                          <a:solidFill>
                            <a:schemeClr val="tx1"/>
                          </a:solidFill>
                          <a:latin typeface="+mn-lt"/>
                        </a:rPr>
                        <a:t>Lécharny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28/11/14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dirty="0" smtClean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86742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dirty="0" smtClean="0">
                          <a:solidFill>
                            <a:schemeClr val="tx1"/>
                          </a:solidFill>
                          <a:latin typeface="+mn-lt"/>
                        </a:rPr>
                        <a:t>0%</a:t>
                      </a:r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400314"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7" name="Espace réservé du pied de page 3"/>
          <p:cNvSpPr>
            <a:spLocks noGrp="1"/>
          </p:cNvSpPr>
          <p:nvPr>
            <p:ph type="ftr" sz="quarter" idx="4294967295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/>
          <a:lstStyle/>
          <a:p>
            <a:pPr algn="ctr">
              <a:defRPr/>
            </a:pPr>
            <a:r>
              <a:rPr lang="en-US" dirty="0"/>
              <a:t>TB 2014.11.11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06739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dirty="0" smtClean="0"/>
              <a:t>Météo - Synthèse</a:t>
            </a:r>
            <a:r>
              <a:rPr lang="en-GB" dirty="0"/>
              <a:t/>
            </a:r>
            <a:br>
              <a:rPr lang="en-GB" dirty="0"/>
            </a:br>
            <a:endParaRPr lang="fr-FR" dirty="0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>
              <a:defRPr/>
            </a:pPr>
            <a:fld id="{5D7F4BBC-DD33-4EAF-A795-05B045A31A4C}" type="slidenum">
              <a:rPr lang="en-US" smtClean="0"/>
              <a:pPr>
                <a:defRPr/>
              </a:pPr>
              <a:t>5</a:t>
            </a:fld>
            <a:endParaRPr lang="en-US"/>
          </a:p>
        </p:txBody>
      </p:sp>
      <p:graphicFrame>
        <p:nvGraphicFramePr>
          <p:cNvPr id="6" name="Tableau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1617732"/>
              </p:ext>
            </p:extLst>
          </p:nvPr>
        </p:nvGraphicFramePr>
        <p:xfrm>
          <a:off x="323527" y="3861048"/>
          <a:ext cx="8640961" cy="1772229"/>
        </p:xfrm>
        <a:graphic>
          <a:graphicData uri="http://schemas.openxmlformats.org/drawingml/2006/table">
            <a:tbl>
              <a:tblPr firstRow="1" bandRow="1">
                <a:tableStyleId>{0E3FDE45-AF77-4B5C-9715-49D594BDF05E}</a:tableStyleId>
              </a:tblPr>
              <a:tblGrid>
                <a:gridCol w="1378613"/>
                <a:gridCol w="1378615"/>
                <a:gridCol w="1378615"/>
                <a:gridCol w="1464779"/>
                <a:gridCol w="1464779"/>
                <a:gridCol w="1575560"/>
              </a:tblGrid>
              <a:tr h="248229"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Météo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Tendance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Avancement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Commentaire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400" dirty="0" smtClean="0">
                          <a:solidFill>
                            <a:srgbClr val="FF0000"/>
                          </a:solidFill>
                        </a:rPr>
                        <a:t>Détail par livrable</a:t>
                      </a:r>
                      <a:endParaRPr lang="en-GB" sz="1400" dirty="0">
                        <a:solidFill>
                          <a:srgbClr val="FF0000"/>
                        </a:solidFill>
                      </a:endParaRPr>
                    </a:p>
                  </a:txBody>
                  <a:tcPr marL="0" marR="0" marT="0" marB="0" anchor="ctr"/>
                </a:tc>
              </a:tr>
              <a:tr h="212767"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</a:rPr>
                        <a:t>STBE</a:t>
                      </a:r>
                      <a:endParaRPr lang="fr-FR" sz="1400" b="0" i="0" kern="120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fr-FR" sz="1400" b="0" i="0" dirty="0" smtClean="0">
                          <a:solidFill>
                            <a:schemeClr val="tx1"/>
                          </a:solidFill>
                          <a:latin typeface="+mn-lt"/>
                        </a:rPr>
                        <a:t>30%</a:t>
                      </a:r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STR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fr-FR" sz="1400" b="0" i="0" kern="1200" dirty="0" smtClean="0">
                          <a:solidFill>
                            <a:schemeClr val="tx1"/>
                          </a:solidFill>
                          <a:latin typeface="+mn-lt"/>
                          <a:ea typeface="Calibri"/>
                          <a:cs typeface="Times New Roman"/>
                        </a:rPr>
                        <a:t>Kit de livraison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pPr marL="0" marR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fr-FR" sz="1400" b="0" i="0" kern="1200" dirty="0" smtClean="0">
                        <a:solidFill>
                          <a:schemeClr val="tx1"/>
                        </a:solidFill>
                        <a:latin typeface="+mn-lt"/>
                        <a:ea typeface="Calibri"/>
                        <a:cs typeface="Times New Roman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  <a:tr h="212767"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fr-FR" sz="1400" b="0" i="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/>
                </a:tc>
              </a:tr>
            </a:tbl>
          </a:graphicData>
        </a:graphic>
      </p:graphicFrame>
      <p:graphicFrame>
        <p:nvGraphicFramePr>
          <p:cNvPr id="7" name="Tableau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54367992"/>
              </p:ext>
            </p:extLst>
          </p:nvPr>
        </p:nvGraphicFramePr>
        <p:xfrm>
          <a:off x="431520" y="1380624"/>
          <a:ext cx="8640963" cy="712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  <a:gridCol w="960107"/>
              </a:tblGrid>
              <a:tr h="504056"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Signalétique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3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Tendances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Amélioration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Stable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rowSpan="2"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Dégradation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  <a:tr h="110872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Normal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latent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Risque avéré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fr-FR" sz="1200" dirty="0" smtClean="0">
                          <a:solidFill>
                            <a:schemeClr val="tx1"/>
                          </a:solidFill>
                        </a:rPr>
                        <a:t>Blocage</a:t>
                      </a:r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 vMerge="1">
                  <a:txBody>
                    <a:bodyPr/>
                    <a:lstStyle/>
                    <a:p>
                      <a:pPr algn="ctr"/>
                      <a:endParaRPr lang="en-GB" sz="1200" dirty="0">
                        <a:solidFill>
                          <a:schemeClr val="tx1"/>
                        </a:solidFill>
                      </a:endParaRPr>
                    </a:p>
                  </a:txBody>
                  <a:tcPr marL="0" marR="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pic>
        <p:nvPicPr>
          <p:cNvPr id="8" name="Picture 57" descr="MCj04325870000[1]"/>
          <p:cNvPicPr>
            <a:picLocks noChangeAspect="1" noChangeArrowheads="1"/>
          </p:cNvPicPr>
          <p:nvPr/>
        </p:nvPicPr>
        <p:blipFill>
          <a:blip r:embed="rId2" cstate="print"/>
          <a:srcRect/>
          <a:stretch>
            <a:fillRect/>
          </a:stretch>
        </p:blipFill>
        <p:spPr bwMode="auto">
          <a:xfrm>
            <a:off x="2619318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9" name="Picture 58" descr="MCj04325880000[1]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3639339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0" name="Picture 59" descr="j0431597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4588412" y="1462071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1" name="Picture 60"/>
          <p:cNvPicPr>
            <a:picLocks noChangeAspect="1" noChangeArrowheads="1"/>
          </p:cNvPicPr>
          <p:nvPr/>
        </p:nvPicPr>
        <p:blipFill>
          <a:blip r:embed="rId5" cstate="print"/>
          <a:srcRect r="94710"/>
          <a:stretch>
            <a:fillRect/>
          </a:stretch>
        </p:blipFill>
        <p:spPr bwMode="auto">
          <a:xfrm>
            <a:off x="6344906" y="1407994"/>
            <a:ext cx="360000" cy="4681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" name="Picture 61"/>
          <p:cNvPicPr>
            <a:picLocks noChangeAspect="1" noChangeArrowheads="1"/>
          </p:cNvPicPr>
          <p:nvPr/>
        </p:nvPicPr>
        <p:blipFill>
          <a:blip r:embed="rId6" cstate="print"/>
          <a:srcRect r="94984"/>
          <a:stretch>
            <a:fillRect/>
          </a:stretch>
        </p:blipFill>
        <p:spPr bwMode="auto">
          <a:xfrm>
            <a:off x="8163357" y="1394091"/>
            <a:ext cx="360000" cy="4958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3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7243999" y="1445813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4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1699763" y="1462000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graphicFrame>
        <p:nvGraphicFramePr>
          <p:cNvPr id="15" name="Tableau 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62265285"/>
              </p:ext>
            </p:extLst>
          </p:nvPr>
        </p:nvGraphicFramePr>
        <p:xfrm>
          <a:off x="323528" y="2276872"/>
          <a:ext cx="8640960" cy="1296144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12168"/>
                <a:gridCol w="3564396"/>
                <a:gridCol w="3564396"/>
              </a:tblGrid>
              <a:tr h="302308">
                <a:tc rowSpan="4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Appréciation générale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Avancement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noFill/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</a:tr>
              <a:tr h="302308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r>
                        <a:rPr lang="fr-FR" sz="1400" b="1" kern="1200" dirty="0" smtClean="0">
                          <a:solidFill>
                            <a:srgbClr val="FF0000"/>
                          </a:solidFill>
                          <a:latin typeface="+mn-lt"/>
                          <a:ea typeface="+mn-ea"/>
                          <a:cs typeface="+mn-cs"/>
                        </a:rPr>
                        <a:t>Commentaires</a:t>
                      </a:r>
                      <a:endParaRPr lang="en-GB" sz="1400" b="1" kern="1200" dirty="0">
                        <a:solidFill>
                          <a:srgbClr val="FF0000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noFill/>
                  </a:tcPr>
                </a:tc>
                <a:tc hMerge="1">
                  <a:txBody>
                    <a:bodyPr/>
                    <a:lstStyle/>
                    <a:p>
                      <a:endParaRPr lang="en-GB" dirty="0"/>
                    </a:p>
                  </a:txBody>
                  <a:tcPr>
                    <a:solidFill>
                      <a:srgbClr val="00B0F0"/>
                    </a:solidFill>
                  </a:tcPr>
                </a:tc>
              </a:tr>
              <a:tr h="389220">
                <a:tc v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marL="0" algn="ctr" defTabSz="914400" rtl="0" eaLnBrk="1" latinLnBrk="0" hangingPunct="1"/>
                      <a:endParaRPr lang="fr-FR" sz="1400" kern="1200" noProof="0" dirty="0">
                        <a:solidFill>
                          <a:schemeClr val="tx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72000" marR="72000" marT="0" marB="0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solidFill>
                      <a:schemeClr val="accent2">
                        <a:lumMod val="20000"/>
                        <a:lumOff val="80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n-GB"/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16" name="Espace réservé du pied de page 3"/>
          <p:cNvSpPr txBox="1">
            <a:spLocks/>
          </p:cNvSpPr>
          <p:nvPr/>
        </p:nvSpPr>
        <p:spPr>
          <a:xfrm>
            <a:off x="3140612" y="6357937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algn="ctr" rtl="0" fontAlgn="base">
              <a:spcBef>
                <a:spcPct val="0"/>
              </a:spcBef>
              <a:spcAft>
                <a:spcPct val="0"/>
              </a:spcAft>
              <a:defRPr sz="1200" kern="1200">
                <a:solidFill>
                  <a:schemeClr val="tx1">
                    <a:tint val="75000"/>
                  </a:schemeClr>
                </a:solidFill>
                <a:latin typeface="Arial" pitchFamily="34" charset="0"/>
                <a:ea typeface="+mn-ea"/>
                <a:cs typeface="+mn-cs"/>
              </a:defRPr>
            </a:lvl1pPr>
            <a:lvl2pPr marL="4572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2pPr>
            <a:lvl3pPr marL="9144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3pPr>
            <a:lvl4pPr marL="13716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4pPr>
            <a:lvl5pPr marL="1828800" algn="l" rtl="0" fontAlgn="base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tx1"/>
                </a:solidFill>
                <a:latin typeface="Arial" charset="0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sz="1800" dirty="0">
                <a:solidFill>
                  <a:schemeClr val="tx1"/>
                </a:solidFill>
              </a:rPr>
              <a:t>TB 2014.11.11</a:t>
            </a:r>
            <a:endParaRPr lang="en-US" sz="1800" dirty="0">
              <a:solidFill>
                <a:schemeClr val="tx1"/>
              </a:solidFill>
            </a:endParaRPr>
          </a:p>
        </p:txBody>
      </p:sp>
      <p:pic>
        <p:nvPicPr>
          <p:cNvPr id="17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702422" y="2793178"/>
            <a:ext cx="360000" cy="360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8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1187624" y="2801218"/>
            <a:ext cx="360000" cy="39237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9" name="Picture 63" descr="MCj04325890000[1]"/>
          <p:cNvPicPr>
            <a:picLocks noChangeAspect="1" noChangeArrowheads="1"/>
          </p:cNvPicPr>
          <p:nvPr/>
        </p:nvPicPr>
        <p:blipFill>
          <a:blip r:embed="rId8" cstate="print"/>
          <a:srcRect/>
          <a:stretch>
            <a:fillRect/>
          </a:stretch>
        </p:blipFill>
        <p:spPr bwMode="auto">
          <a:xfrm>
            <a:off x="2318866" y="4117537"/>
            <a:ext cx="279110" cy="27911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20" name="Picture 62"/>
          <p:cNvPicPr>
            <a:picLocks noChangeAspect="1" noChangeArrowheads="1"/>
          </p:cNvPicPr>
          <p:nvPr/>
        </p:nvPicPr>
        <p:blipFill>
          <a:blip r:embed="rId7" cstate="print"/>
          <a:srcRect r="93661"/>
          <a:stretch>
            <a:fillRect/>
          </a:stretch>
        </p:blipFill>
        <p:spPr bwMode="auto">
          <a:xfrm>
            <a:off x="3639339" y="4099733"/>
            <a:ext cx="272416" cy="29691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  <p:extLst>
      <p:ext uri="{BB962C8B-B14F-4D97-AF65-F5344CB8AC3E}">
        <p14:creationId xmlns:p14="http://schemas.microsoft.com/office/powerpoint/2010/main" val="11944777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4_Default Theme">
  <a:themeElements>
    <a:clrScheme name="UPMC charte graphique">
      <a:dk1>
        <a:srgbClr val="000000"/>
      </a:dk1>
      <a:lt1>
        <a:srgbClr val="FFFFFF"/>
      </a:lt1>
      <a:dk2>
        <a:srgbClr val="665546"/>
      </a:dk2>
      <a:lt2>
        <a:srgbClr val="91785B"/>
      </a:lt2>
      <a:accent1>
        <a:srgbClr val="4B92DB"/>
      </a:accent1>
      <a:accent2>
        <a:srgbClr val="644459"/>
      </a:accent2>
      <a:accent3>
        <a:srgbClr val="B6BF00"/>
      </a:accent3>
      <a:accent4>
        <a:srgbClr val="FFA02F"/>
      </a:accent4>
      <a:accent5>
        <a:srgbClr val="B5384F"/>
      </a:accent5>
      <a:accent6>
        <a:srgbClr val="D10074"/>
      </a:accent6>
      <a:hlink>
        <a:srgbClr val="00B9E4"/>
      </a:hlink>
      <a:folHlink>
        <a:srgbClr val="22505F"/>
      </a:folHlink>
    </a:clrScheme>
    <a:fontScheme name="Charte graphique UPMC">
      <a:majorFont>
        <a:latin typeface="Century Gothic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1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2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5.xml><?xml version="1.0" encoding="utf-8"?>
<a:theme xmlns:a="http://schemas.openxmlformats.org/drawingml/2006/main" name="3_Conception personnalisé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6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DESCRIPTION0 xmlns="ba304b05-2de2-4a46-be7c-fa23123e7702">Exemple de Modele de TB-projet</DESCRIPTION0>
    <Cat_x00e9_gorie xmlns="ba304b05-2de2-4a46-be7c-fa23123e7702">Etude</Cat_x00e9_gorie>
    <Statut xmlns="ba304b05-2de2-4a46-be7c-fa23123e7702">Encours</Statut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4FB27D112975140984A018D31E93D46" ma:contentTypeVersion="6" ma:contentTypeDescription="Crée un document." ma:contentTypeScope="" ma:versionID="cd1a5a7e3b4fab495c8d03ccfa007047">
  <xsd:schema xmlns:xsd="http://www.w3.org/2001/XMLSchema" xmlns:xs="http://www.w3.org/2001/XMLSchema" xmlns:p="http://schemas.microsoft.com/office/2006/metadata/properties" xmlns:ns2="ba304b05-2de2-4a46-be7c-fa23123e7702" targetNamespace="http://schemas.microsoft.com/office/2006/metadata/properties" ma:root="true" ma:fieldsID="17380a433e5f01ac948fc83ff4e94548" ns2:_="">
    <xsd:import namespace="ba304b05-2de2-4a46-be7c-fa23123e7702"/>
    <xsd:element name="properties">
      <xsd:complexType>
        <xsd:sequence>
          <xsd:element name="documentManagement">
            <xsd:complexType>
              <xsd:all>
                <xsd:element ref="ns2:DESCRIPTION0" minOccurs="0"/>
                <xsd:element ref="ns2:Statut"/>
                <xsd:element ref="ns2:Cat_x00e9_gorie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ba304b05-2de2-4a46-be7c-fa23123e7702" elementFormDefault="qualified">
    <xsd:import namespace="http://schemas.microsoft.com/office/2006/documentManagement/types"/>
    <xsd:import namespace="http://schemas.microsoft.com/office/infopath/2007/PartnerControls"/>
    <xsd:element name="DESCRIPTION0" ma:index="8" nillable="true" ma:displayName="Description" ma:description="Description du document" ma:internalName="DESCRIPTION0">
      <xsd:simpleType>
        <xsd:restriction base="dms:Note">
          <xsd:maxLength value="255"/>
        </xsd:restriction>
      </xsd:simpleType>
    </xsd:element>
    <xsd:element name="Statut" ma:index="9" ma:displayName="Statut" ma:default="Travail" ma:description="Statut du document (Utiliser pour les projet que les documents ayant le statut &quot;Valide&quot;)" ma:format="Dropdown" ma:indexed="true" ma:internalName="Statut">
      <xsd:simpleType>
        <xsd:restriction base="dms:Choice">
          <xsd:enumeration value="Travail"/>
          <xsd:enumeration value="Encours"/>
          <xsd:enumeration value="Valide"/>
        </xsd:restriction>
      </xsd:simpleType>
    </xsd:element>
    <xsd:element name="Cat_x00e9_gorie" ma:index="10" nillable="true" ma:displayName="Catégorie" ma:default="Projet" ma:description="Catégorie d'utilisation du document" ma:format="Dropdown" ma:internalName="Cat_x00e9_gorie">
      <xsd:simpleType>
        <xsd:restriction base="dms:Choice">
          <xsd:enumeration value="Projet"/>
          <xsd:enumeration value="Admin"/>
          <xsd:enumeration value="Dév"/>
          <xsd:enumeration value="Prod"/>
          <xsd:enumeration value="Etude"/>
          <xsd:enumeration value="NADAP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F4C7E9DD-FD39-4258-ACCA-161BEA35866B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42E19A6-1FC2-4635-9FD1-E19332A97D89}">
  <ds:schemaRefs>
    <ds:schemaRef ds:uri="http://schemas.microsoft.com/office/infopath/2007/PartnerControls"/>
    <ds:schemaRef ds:uri="http://purl.org/dc/dcmitype/"/>
    <ds:schemaRef ds:uri="http://purl.org/dc/elements/1.1/"/>
    <ds:schemaRef ds:uri="http://schemas.microsoft.com/office/2006/documentManagement/types"/>
    <ds:schemaRef ds:uri="http://schemas.openxmlformats.org/package/2006/metadata/core-properties"/>
    <ds:schemaRef ds:uri="ba304b05-2de2-4a46-be7c-fa23123e7702"/>
    <ds:schemaRef ds:uri="http://purl.org/dc/terms/"/>
    <ds:schemaRef ds:uri="http://www.w3.org/XML/1998/namespace"/>
    <ds:schemaRef ds:uri="http://schemas.microsoft.com/office/2006/metadata/properties"/>
  </ds:schemaRefs>
</ds:datastoreItem>
</file>

<file path=customXml/itemProps3.xml><?xml version="1.0" encoding="utf-8"?>
<ds:datastoreItem xmlns:ds="http://schemas.openxmlformats.org/officeDocument/2006/customXml" ds:itemID="{A0A82F11-A615-41E5-B460-7C061A4C892A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ba304b05-2de2-4a46-be7c-fa23123e770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7425</TotalTime>
  <Words>343</Words>
  <Application>Microsoft Office PowerPoint</Application>
  <PresentationFormat>Affichage à l'écran (4:3)</PresentationFormat>
  <Paragraphs>113</Paragraphs>
  <Slides>5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5</vt:i4>
      </vt:variant>
      <vt:variant>
        <vt:lpstr>Titres des diapositives</vt:lpstr>
      </vt:variant>
      <vt:variant>
        <vt:i4>5</vt:i4>
      </vt:variant>
    </vt:vector>
  </HeadingPairs>
  <TitlesOfParts>
    <vt:vector size="10" baseType="lpstr">
      <vt:lpstr>4_Default Theme</vt:lpstr>
      <vt:lpstr>Conception personnalisée</vt:lpstr>
      <vt:lpstr>1_Conception personnalisée</vt:lpstr>
      <vt:lpstr>2_Conception personnalisée</vt:lpstr>
      <vt:lpstr>3_Conception personnalisée</vt:lpstr>
      <vt:lpstr>Tableau de bord – Projet: pi-injector</vt:lpstr>
      <vt:lpstr>Suivi des activités Période du 28/10/14 au 11/11/14 </vt:lpstr>
      <vt:lpstr>Avancement des tâches Période du 28/10/14 au 11/11/14 </vt:lpstr>
      <vt:lpstr>Avancement des livrables au 11/11/14  </vt:lpstr>
      <vt:lpstr>Météo - Synthèse </vt:lpstr>
    </vt:vector>
  </TitlesOfParts>
  <Manager>Christine.Viguier@admp6.jussieu.fr</Manager>
  <Company>Université P &amp; M Curie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Exemple de Modele de TB-projet</dc:title>
  <dc:subject>Pi-STL-Modele-TB</dc:subject>
  <dc:creator>Christine.Viguier@admp6.jussieu.fr</dc:creator>
  <cp:lastModifiedBy>Antoine</cp:lastModifiedBy>
  <cp:revision>186</cp:revision>
  <cp:lastPrinted>2013-11-03T19:18:17Z</cp:lastPrinted>
  <dcterms:created xsi:type="dcterms:W3CDTF">2013-05-07T09:29:44Z</dcterms:created>
  <dcterms:modified xsi:type="dcterms:W3CDTF">2014-11-25T22:05:52Z</dcterms:modified>
  <cp:category>MODELE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0x010100F4FB27D112975140984A018D31E93D46</vt:lpwstr>
  </property>
  <property fmtid="{D5CDD505-2E9C-101B-9397-08002B2CF9AE}" pid="3" name="DESCRIPTION0">
    <vt:lpwstr>Présentation NADAP 1 - MOA-</vt:lpwstr>
  </property>
  <property fmtid="{D5CDD505-2E9C-101B-9397-08002B2CF9AE}" pid="4" name="Statut">
    <vt:lpwstr>Valide</vt:lpwstr>
  </property>
  <property fmtid="{D5CDD505-2E9C-101B-9397-08002B2CF9AE}" pid="5" name="Catégorie">
    <vt:lpwstr>Etude</vt:lpwstr>
  </property>
</Properties>
</file>