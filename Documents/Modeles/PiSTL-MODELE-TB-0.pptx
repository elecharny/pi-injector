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4"/>
    <p:sldMasterId id="2147483750" r:id="rId5"/>
    <p:sldMasterId id="2147483764" r:id="rId6"/>
    <p:sldMasterId id="2147483777" r:id="rId7"/>
    <p:sldMasterId id="2147483790" r:id="rId8"/>
  </p:sldMasterIdLst>
  <p:notesMasterIdLst>
    <p:notesMasterId r:id="rId14"/>
  </p:notesMasterIdLst>
  <p:sldIdLst>
    <p:sldId id="276" r:id="rId9"/>
    <p:sldId id="277" r:id="rId10"/>
    <p:sldId id="278" r:id="rId11"/>
    <p:sldId id="280" r:id="rId12"/>
    <p:sldId id="281" r:id="rId1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08" autoAdjust="0"/>
    <p:restoredTop sz="94705" autoAdjust="0"/>
  </p:normalViewPr>
  <p:slideViewPr>
    <p:cSldViewPr>
      <p:cViewPr>
        <p:scale>
          <a:sx n="100" d="100"/>
          <a:sy n="100" d="100"/>
        </p:scale>
        <p:origin x="-1944" y="-4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31E31223-ADE9-4D68-9F03-2F453132BF1D}" type="datetimeFigureOut">
              <a:rPr lang="fr-FR"/>
              <a:pPr>
                <a:defRPr/>
              </a:pPr>
              <a:t>15/10/2014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>
                <a:latin typeface="Arial" pitchFamily="34" charset="0"/>
              </a:defRPr>
            </a:lvl1pPr>
          </a:lstStyle>
          <a:p>
            <a:pPr>
              <a:defRPr/>
            </a:pPr>
            <a:fld id="{E25014BA-7E69-4DF1-A456-8B7648CDD71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3056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358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/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550468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>
          <a:xfrm>
            <a:off x="4859338" y="3284538"/>
            <a:ext cx="2592387" cy="1296987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75106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12813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F4BBC-DD33-4EAF-A795-05B045A31A4C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359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0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36138-AD5F-4E29-A399-E844EF845F8F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16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0661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Century Gothic" pitchFamily="34" charset="0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6678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68EFC0-3423-402B-B708-FFED42F3D37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63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469B6-F905-4DD1-9521-B816AF7D40C3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282687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59819-6027-45BE-9692-27918BA0DA2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11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47D34-CF79-4062-8B39-4EA03315C9B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91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55B8B3-60A9-43B3-B6DB-7480FFDB604E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57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600200"/>
            <a:ext cx="5184576" cy="4525963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1pPr>
            <a:lvl2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2pPr>
            <a:lvl3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3pPr>
            <a:lvl4pPr inden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defRPr/>
            </a:lvl4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/>
          </p:nvPr>
        </p:nvSpPr>
        <p:spPr>
          <a:xfrm>
            <a:off x="5868144" y="4077073"/>
            <a:ext cx="2880569" cy="2160216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300"/>
              </a:spcAft>
              <a:defRPr sz="1400">
                <a:solidFill>
                  <a:schemeClr val="bg1"/>
                </a:solidFill>
                <a:latin typeface="+mn-lt"/>
              </a:defRPr>
            </a:lvl1pPr>
            <a:lvl2pPr>
              <a:buFont typeface="Wingdings" pitchFamily="2" charset="2"/>
              <a:buChar char="Ø"/>
              <a:defRPr sz="1200">
                <a:solidFill>
                  <a:schemeClr val="bg1"/>
                </a:solidFill>
                <a:latin typeface="Century Gothic" pitchFamily="34" charset="0"/>
              </a:defRPr>
            </a:lvl2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404692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7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smtClean="0"/>
              <a:t>Cliquez pour modifier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29E10-5B70-4C9E-8133-9D7F3F4E702A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33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3" descr="UPMC_cart blanc Q_7504-166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066130"/>
          </a:xfrm>
        </p:spPr>
        <p:txBody>
          <a:bodyPr/>
          <a:lstStyle/>
          <a:p>
            <a:r>
              <a:rPr lang="fr-FR" dirty="0" smtClean="0"/>
              <a:t>Cliquez pour modifier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 dirty="0" smtClean="0"/>
              <a:t>Cliquez pour modifier les styles du texte du masque</a:t>
            </a:r>
          </a:p>
          <a:p>
            <a:pPr lvl="1"/>
            <a:r>
              <a:rPr lang="fr-FR" noProof="0" dirty="0" smtClean="0"/>
              <a:t>Deuxième niveau</a:t>
            </a:r>
          </a:p>
          <a:p>
            <a:pPr lvl="2"/>
            <a:r>
              <a:rPr lang="fr-FR" noProof="0" dirty="0" smtClean="0"/>
              <a:t>Troisième niveau</a:t>
            </a:r>
          </a:p>
          <a:p>
            <a:pPr lvl="3"/>
            <a:r>
              <a:rPr lang="fr-FR" noProof="0" dirty="0" smtClean="0"/>
              <a:t>Quatrième niveau</a:t>
            </a:r>
          </a:p>
          <a:p>
            <a:pPr lvl="4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C0F4C6-C305-463C-9883-6FE16226C828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0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eg"/><Relationship Id="rId5" Type="http://schemas.openxmlformats.org/officeDocument/2006/relationships/image" Target="../media/image2.em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emf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emf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3" r:id="rId2"/>
    <p:sldLayoutId id="2147483900" r:id="rId3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1pPr>
      <a:lvl2pPr marL="215900" indent="-215900" algn="l" rtl="0" eaLnBrk="0" fontAlgn="base" hangingPunct="0">
        <a:lnSpc>
          <a:spcPct val="150000"/>
        </a:lnSpc>
        <a:spcBef>
          <a:spcPts val="600"/>
        </a:spcBef>
        <a:spcAft>
          <a:spcPts val="30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400" kern="1200">
          <a:solidFill>
            <a:schemeClr val="tx1"/>
          </a:solidFill>
          <a:latin typeface="+mn-lt"/>
          <a:ea typeface="Batang" pitchFamily="18" charset="-127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1200" kern="1200">
          <a:solidFill>
            <a:schemeClr val="tx1"/>
          </a:solidFill>
          <a:latin typeface="Century Gothic" pitchFamily="34" charset="0"/>
          <a:ea typeface="Batang" pitchFamily="18" charset="-127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Batang" pitchFamily="18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205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 smtClean="0"/>
              <a:t>Cliquez pour modifier les styles du texte du masque</a:t>
            </a:r>
          </a:p>
          <a:p>
            <a:pPr lvl="1"/>
            <a:r>
              <a:rPr lang="fr-FR" altLang="fr-FR" dirty="0" smtClean="0"/>
              <a:t>Deuxième niveau</a:t>
            </a:r>
          </a:p>
          <a:p>
            <a:pPr lvl="2"/>
            <a:r>
              <a:rPr lang="fr-FR" altLang="fr-FR" dirty="0" smtClean="0"/>
              <a:t>Troisième niveau</a:t>
            </a:r>
          </a:p>
          <a:p>
            <a:pPr lvl="3"/>
            <a:r>
              <a:rPr lang="fr-FR" altLang="fr-FR" dirty="0" smtClean="0"/>
              <a:t>Quatrième niveau</a:t>
            </a:r>
          </a:p>
          <a:p>
            <a:pPr lvl="4"/>
            <a:r>
              <a:rPr lang="fr-FR" altLang="fr-FR" dirty="0" smtClean="0"/>
              <a:t>Cinquième niveau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C60CE39-269A-4C5E-B9F4-43A3170E95E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  <p:pic>
        <p:nvPicPr>
          <p:cNvPr id="2055" name="Image 3" descr="UPMC_cart blanc Q_7504-166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76950"/>
            <a:ext cx="1557338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1" y="38522"/>
            <a:ext cx="155733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4000" b="0" cap="none" spc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n-lt"/>
              </a:rPr>
              <a:t>PiSTL</a:t>
            </a:r>
            <a:endParaRPr lang="fr-FR" sz="4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1" r:id="rId2"/>
    <p:sldLayoutId id="2147483902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-1588"/>
            <a:ext cx="9180513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307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96F21E3C-4CA7-4246-9815-1266DAEBC407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9163050" cy="1292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410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AF17D9E8-113B-42C2-92CB-577324629499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</p:sldLayoutIdLst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5074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512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fr-FR" smtClean="0"/>
              <a:t>NADAP 1.0 – 13/02/2014</a:t>
            </a:r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E2A143CE-C1AE-46DD-890C-4016E6AB07A2}" type="slidenum">
              <a:rPr lang="en-US"/>
              <a:pPr>
                <a:defRPr/>
              </a:pPr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Century Gothic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b="1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defRPr sz="20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Century Gothic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w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1B90F8-8EE4-409B-B151-70F540DBBD7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9460" name="Titre 2"/>
          <p:cNvSpPr>
            <a:spLocks noGrp="1"/>
          </p:cNvSpPr>
          <p:nvPr>
            <p:ph type="title"/>
          </p:nvPr>
        </p:nvSpPr>
        <p:spPr>
          <a:xfrm>
            <a:off x="179388" y="274638"/>
            <a:ext cx="8462962" cy="1143000"/>
          </a:xfrm>
        </p:spPr>
        <p:txBody>
          <a:bodyPr/>
          <a:lstStyle/>
          <a:p>
            <a:pPr eaLnBrk="1" hangingPunct="1"/>
            <a:r>
              <a:rPr lang="fr-FR" dirty="0" smtClean="0"/>
              <a:t>Tableau de bord – Suivi de projet: XXXX</a:t>
            </a:r>
            <a:endParaRPr lang="en-US" altLang="fr-FR" dirty="0" smtClean="0"/>
          </a:p>
        </p:txBody>
      </p:sp>
      <p:sp>
        <p:nvSpPr>
          <p:cNvPr id="19461" name="Espace réservé du contenu 3"/>
          <p:cNvSpPr>
            <a:spLocks noGrp="1"/>
          </p:cNvSpPr>
          <p:nvPr>
            <p:ph idx="1"/>
          </p:nvPr>
        </p:nvSpPr>
        <p:spPr>
          <a:xfrm>
            <a:off x="179388" y="1600200"/>
            <a:ext cx="8713092" cy="4525963"/>
          </a:xfrm>
        </p:spPr>
        <p:txBody>
          <a:bodyPr/>
          <a:lstStyle/>
          <a:p>
            <a:r>
              <a:rPr lang="fr-FR" dirty="0"/>
              <a:t>Réalisations depuis </a:t>
            </a:r>
            <a:r>
              <a:rPr lang="fr-FR" dirty="0" smtClean="0"/>
              <a:t>le </a:t>
            </a:r>
            <a:r>
              <a:rPr lang="fr-FR" b="0" i="1" dirty="0" smtClean="0"/>
              <a:t>(Préciser la date du dernier </a:t>
            </a:r>
            <a:r>
              <a:rPr lang="fr-FR" b="0" i="1" dirty="0" err="1" smtClean="0"/>
              <a:t>coproj</a:t>
            </a:r>
            <a:r>
              <a:rPr lang="fr-FR" b="0" i="1" dirty="0" smtClean="0"/>
              <a:t>)</a:t>
            </a:r>
          </a:p>
          <a:p>
            <a:endParaRPr lang="fr-FR" b="0" i="1" dirty="0"/>
          </a:p>
          <a:p>
            <a:r>
              <a:rPr lang="fr-FR" dirty="0"/>
              <a:t>Suivi des </a:t>
            </a:r>
            <a:r>
              <a:rPr lang="fr-FR" dirty="0" smtClean="0"/>
              <a:t>activités</a:t>
            </a:r>
          </a:p>
          <a:p>
            <a:endParaRPr lang="fr-FR" dirty="0"/>
          </a:p>
          <a:p>
            <a:r>
              <a:rPr lang="fr-FR" dirty="0"/>
              <a:t>Suivi des </a:t>
            </a:r>
            <a:r>
              <a:rPr lang="fr-FR" dirty="0" smtClean="0"/>
              <a:t>charges</a:t>
            </a:r>
          </a:p>
          <a:p>
            <a:endParaRPr lang="fr-FR" dirty="0"/>
          </a:p>
          <a:p>
            <a:r>
              <a:rPr lang="fr-FR" dirty="0"/>
              <a:t>Synthèse « Météo »</a:t>
            </a:r>
            <a:endParaRPr lang="en-GB" dirty="0"/>
          </a:p>
        </p:txBody>
      </p:sp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</a:t>
            </a:r>
            <a:r>
              <a:rPr lang="en-US" dirty="0" smtClean="0"/>
              <a:t>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14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94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Suivi des activités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JJ/MM/AA au  JJ/MM/AA </a:t>
            </a:r>
            <a:br>
              <a:rPr lang="fr-FR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728973"/>
              </p:ext>
            </p:extLst>
          </p:nvPr>
        </p:nvGraphicFramePr>
        <p:xfrm>
          <a:off x="323528" y="1340768"/>
          <a:ext cx="8640960" cy="2540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Réalisations et événements majeurs sur la période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Réalisations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et événements majeurs sur</a:t>
                      </a:r>
                      <a:r>
                        <a:rPr lang="fr-FR" sz="1400" b="1" baseline="0" dirty="0" smtClean="0">
                          <a:solidFill>
                            <a:srgbClr val="FF0000"/>
                          </a:solidFill>
                        </a:rPr>
                        <a:t> la période à venir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225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b="1" baseline="0" noProof="0" dirty="0" smtClean="0"/>
                    </a:p>
                    <a:p>
                      <a:pPr marL="0" algn="l" defTabSz="914400" rtl="0" eaLnBrk="1" latinLnBrk="0" hangingPunct="1"/>
                      <a:r>
                        <a:rPr lang="fr-FR" sz="1600" b="0" i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Préciser les tâches accomplies et évènements marquant ayant pu ou eu un impact sur le projet.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0" i="1" baseline="0" noProof="0" dirty="0" smtClean="0"/>
                        <a:t>( Unité de mesure: 0,5j/h)</a:t>
                      </a:r>
                    </a:p>
                    <a:p>
                      <a:pPr marL="0" algn="l" defTabSz="914400" rtl="0" eaLnBrk="1" latinLnBrk="0" hangingPunct="1"/>
                      <a:endParaRPr lang="fr-FR" sz="1600" b="0" i="1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fr-FR" b="1" baseline="0" noProof="0" dirty="0" smtClean="0"/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fr-FR" b="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dirty="0" smtClean="0"/>
                    </a:p>
                    <a:p>
                      <a:r>
                        <a:rPr lang="fr-FR" sz="1600" b="0" i="1" baseline="0" noProof="0" dirty="0" smtClean="0"/>
                        <a:t>Préciser les tâches accomplies et évènements marquant pouvant avoir un impact sur le projet.</a:t>
                      </a:r>
                    </a:p>
                    <a:p>
                      <a:r>
                        <a:rPr lang="fr-FR" sz="1600" b="0" i="1" baseline="0" noProof="0" dirty="0" smtClean="0"/>
                        <a:t>( Unité de mesure: 0,5j/h)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274640"/>
              </p:ext>
            </p:extLst>
          </p:nvPr>
        </p:nvGraphicFramePr>
        <p:xfrm>
          <a:off x="323528" y="3789040"/>
          <a:ext cx="8640960" cy="24048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48472"/>
                <a:gridCol w="4392488"/>
              </a:tblGrid>
              <a:tr h="382349"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 smtClean="0">
                          <a:solidFill>
                            <a:srgbClr val="FF0000"/>
                          </a:solidFill>
                        </a:rPr>
                        <a:t>Principaux risques identifiés</a:t>
                      </a:r>
                      <a:endParaRPr lang="en-GB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Arbitrages ou décisions demandés à la MOA ou la MOE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225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0" i="1" kern="1200" baseline="0" noProof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fr-FR" sz="1600" b="0" i="1" kern="1200" baseline="0" noProof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Indiquer les risques pouvant avoir un impact sur le projet (ex. délai, charges, …)</a:t>
                      </a:r>
                      <a:endParaRPr lang="fr-FR" sz="1600" b="0" i="1" kern="1200" baseline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/>
                        <a:t>Lister</a:t>
                      </a:r>
                      <a:r>
                        <a:rPr lang="fr-FR" sz="1600" baseline="0" dirty="0" smtClean="0"/>
                        <a:t> des points en attente de réponse et pouvant avoir un impact sur le déroulement du projet (ex.: Retard sur la livraison des livrables)</a:t>
                      </a:r>
                      <a:endParaRPr lang="fr-FR" sz="16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Espace réservé du pied de page 3"/>
          <p:cNvSpPr txBox="1">
            <a:spLocks/>
          </p:cNvSpPr>
          <p:nvPr/>
        </p:nvSpPr>
        <p:spPr>
          <a:xfrm>
            <a:off x="2987824" y="638132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</a:t>
            </a:r>
            <a:r>
              <a:rPr lang="en-US" dirty="0" smtClean="0"/>
              <a:t>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Avancement des </a:t>
            </a:r>
            <a:r>
              <a:rPr lang="fr-FR" dirty="0" smtClean="0"/>
              <a:t>tâches</a:t>
            </a:r>
            <a:br>
              <a:rPr lang="fr-FR" dirty="0" smtClean="0"/>
            </a:br>
            <a:r>
              <a:rPr lang="fr-FR" dirty="0" smtClean="0"/>
              <a:t>Période </a:t>
            </a:r>
            <a:r>
              <a:rPr lang="fr-FR" dirty="0"/>
              <a:t>du JJ/MM/AA au  JJ/MM/AA 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58665"/>
              </p:ext>
            </p:extLst>
          </p:nvPr>
        </p:nvGraphicFramePr>
        <p:xfrm>
          <a:off x="227494" y="1700808"/>
          <a:ext cx="8646660" cy="340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996"/>
                <a:gridCol w="1080120"/>
                <a:gridCol w="1224136"/>
                <a:gridCol w="1152128"/>
                <a:gridCol w="1079170"/>
                <a:gridCol w="1441110"/>
              </a:tblGrid>
              <a:tr h="681944"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noProof="0" dirty="0" smtClean="0"/>
                        <a:t>En %</a:t>
                      </a:r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</a:tr>
              <a:tr h="681944"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</a:tr>
              <a:tr h="6819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</a:tr>
              <a:tr h="6819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</a:tr>
              <a:tr h="681944"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683706"/>
              </p:ext>
            </p:extLst>
          </p:nvPr>
        </p:nvGraphicFramePr>
        <p:xfrm>
          <a:off x="395538" y="1628798"/>
          <a:ext cx="8424934" cy="454770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52126"/>
                <a:gridCol w="1152128"/>
                <a:gridCol w="1152128"/>
                <a:gridCol w="1224136"/>
                <a:gridCol w="1224136"/>
                <a:gridCol w="1316718"/>
                <a:gridCol w="1203562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(et N° de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réf.)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du responsable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Personnes affectées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Début de la tâche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estimée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fin 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fr-FR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(Nom)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mtClean="0">
                          <a:solidFill>
                            <a:schemeClr val="bg1"/>
                          </a:solidFill>
                        </a:rPr>
                        <a:t>JJ/MM/AA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JJ/MM/AA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JJ/MM/AA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En %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</a:t>
            </a:r>
            <a:r>
              <a:rPr lang="en-US" dirty="0" smtClean="0"/>
              <a:t>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372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9552" y="404664"/>
            <a:ext cx="8229600" cy="1143000"/>
          </a:xfrm>
        </p:spPr>
        <p:txBody>
          <a:bodyPr/>
          <a:lstStyle/>
          <a:p>
            <a:r>
              <a:rPr lang="fr-FR" dirty="0" smtClean="0"/>
              <a:t>Avancement des livrables au JJ/MM/AA 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388815"/>
              </p:ext>
            </p:extLst>
          </p:nvPr>
        </p:nvGraphicFramePr>
        <p:xfrm>
          <a:off x="227494" y="1700808"/>
          <a:ext cx="8646660" cy="340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996"/>
                <a:gridCol w="1080120"/>
                <a:gridCol w="1224136"/>
                <a:gridCol w="1152128"/>
                <a:gridCol w="1079170"/>
                <a:gridCol w="1441110"/>
              </a:tblGrid>
              <a:tr h="681944"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noProof="0" dirty="0" smtClean="0"/>
                        <a:t>En %</a:t>
                      </a:r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</a:tr>
              <a:tr h="681944"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</a:tr>
              <a:tr h="6819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</a:tr>
              <a:tr h="68194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</a:tr>
              <a:tr h="681944">
                <a:tc>
                  <a:txBody>
                    <a:bodyPr/>
                    <a:lstStyle/>
                    <a:p>
                      <a:pPr algn="ctr"/>
                      <a:endParaRPr lang="fr-FR" sz="1200" noProof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200" noProof="0" dirty="0" smtClean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2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645297"/>
              </p:ext>
            </p:extLst>
          </p:nvPr>
        </p:nvGraphicFramePr>
        <p:xfrm>
          <a:off x="395538" y="1628798"/>
          <a:ext cx="8424934" cy="514822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152126"/>
                <a:gridCol w="1152128"/>
                <a:gridCol w="1152128"/>
                <a:gridCol w="1224136"/>
                <a:gridCol w="1224136"/>
                <a:gridCol w="1316718"/>
                <a:gridCol w="1203562"/>
              </a:tblGrid>
              <a:tr h="78966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Nom (référence) du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livrables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Description courte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4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Valideur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théorique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révisée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Date de livraison</a:t>
                      </a:r>
                      <a:r>
                        <a:rPr lang="fr-FR" sz="1400" b="1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réelle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</a:t>
                      </a:r>
                      <a:endParaRPr lang="en-GB" sz="1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fr-FR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(Nom)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mtClean="0">
                          <a:solidFill>
                            <a:schemeClr val="bg1"/>
                          </a:solidFill>
                        </a:rPr>
                        <a:t>JJ/MM/AA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JJ/MM/AA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JJ/MM/AA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En %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Helvetica"/>
                          <a:ea typeface="Calibri"/>
                          <a:cs typeface="Times New Roman"/>
                        </a:rPr>
                        <a:t>STBE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867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Helvetica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Helvetica"/>
                          <a:ea typeface="Calibri"/>
                          <a:cs typeface="Times New Roman"/>
                        </a:rPr>
                        <a:t>Kit de livraison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r>
                        <a:rPr lang="fr-FR" dirty="0" smtClean="0"/>
                        <a:t>………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00314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Espace réservé du pied de page 3"/>
          <p:cNvSpPr>
            <a:spLocks noGrp="1"/>
          </p:cNvSpPr>
          <p:nvPr>
            <p:ph type="ftr" sz="quarter" idx="4294967295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</a:t>
            </a:r>
            <a:r>
              <a:rPr lang="en-US" dirty="0" smtClean="0"/>
              <a:t>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6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Météo - Synthèse</a:t>
            </a:r>
            <a:r>
              <a:rPr lang="en-GB" dirty="0"/>
              <a:t/>
            </a:r>
            <a:br>
              <a:rPr lang="en-GB" dirty="0"/>
            </a:b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7F4BBC-DD33-4EAF-A795-05B045A31A4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268532"/>
              </p:ext>
            </p:extLst>
          </p:nvPr>
        </p:nvGraphicFramePr>
        <p:xfrm>
          <a:off x="323527" y="3861048"/>
          <a:ext cx="8640961" cy="235134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378613"/>
                <a:gridCol w="1378615"/>
                <a:gridCol w="1378615"/>
                <a:gridCol w="1464779"/>
                <a:gridCol w="1464779"/>
                <a:gridCol w="1575560"/>
              </a:tblGrid>
              <a:tr h="24822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Détail par livrable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Météo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Tendance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Avancement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Commentaire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Détail par livrable</a:t>
                      </a:r>
                      <a:endParaRPr lang="en-GB" sz="1400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</a:tr>
              <a:tr h="21276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8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(Nom)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JJ/MM/AA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JJ/MM/AA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solidFill>
                            <a:schemeClr val="bg1"/>
                          </a:solidFill>
                        </a:rPr>
                        <a:t>JJ/MM/AA</a:t>
                      </a:r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Helvetica"/>
                          <a:ea typeface="Calibri"/>
                          <a:cs typeface="Times New Roman"/>
                        </a:rPr>
                        <a:t>STBE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Helvetica"/>
                          <a:ea typeface="Calibri"/>
                          <a:cs typeface="Times New Roman"/>
                        </a:rP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Helvetica"/>
                          <a:ea typeface="Calibri"/>
                          <a:cs typeface="Times New Roman"/>
                        </a:rPr>
                        <a:t>Kit de livraison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212767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367992"/>
              </p:ext>
            </p:extLst>
          </p:nvPr>
        </p:nvGraphicFramePr>
        <p:xfrm>
          <a:off x="431520" y="1380624"/>
          <a:ext cx="8640963" cy="712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  <a:gridCol w="960107"/>
              </a:tblGrid>
              <a:tr h="504056"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Signalétique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Tendances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Amélioration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Stable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Dégradation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1087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latent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Risque avéré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 smtClean="0">
                          <a:solidFill>
                            <a:schemeClr val="tx1"/>
                          </a:solidFill>
                        </a:rPr>
                        <a:t>Blocage</a:t>
                      </a:r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57" descr="MCj0432587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19318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8" descr="MCj0432588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39339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9" descr="j043159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88412" y="1462071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60"/>
          <p:cNvPicPr>
            <a:picLocks noChangeAspect="1" noChangeArrowheads="1"/>
          </p:cNvPicPr>
          <p:nvPr/>
        </p:nvPicPr>
        <p:blipFill>
          <a:blip r:embed="rId5" cstate="print"/>
          <a:srcRect r="94710"/>
          <a:stretch>
            <a:fillRect/>
          </a:stretch>
        </p:blipFill>
        <p:spPr bwMode="auto">
          <a:xfrm>
            <a:off x="6344906" y="1407994"/>
            <a:ext cx="360000" cy="468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61"/>
          <p:cNvPicPr>
            <a:picLocks noChangeAspect="1" noChangeArrowheads="1"/>
          </p:cNvPicPr>
          <p:nvPr/>
        </p:nvPicPr>
        <p:blipFill>
          <a:blip r:embed="rId6" cstate="print"/>
          <a:srcRect r="94984"/>
          <a:stretch>
            <a:fillRect/>
          </a:stretch>
        </p:blipFill>
        <p:spPr bwMode="auto">
          <a:xfrm>
            <a:off x="8163357" y="1394091"/>
            <a:ext cx="360000" cy="49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62"/>
          <p:cNvPicPr>
            <a:picLocks noChangeAspect="1" noChangeArrowheads="1"/>
          </p:cNvPicPr>
          <p:nvPr/>
        </p:nvPicPr>
        <p:blipFill>
          <a:blip r:embed="rId7" cstate="print"/>
          <a:srcRect r="93661"/>
          <a:stretch>
            <a:fillRect/>
          </a:stretch>
        </p:blipFill>
        <p:spPr bwMode="auto">
          <a:xfrm>
            <a:off x="7243999" y="1445813"/>
            <a:ext cx="360000" cy="39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63" descr="MCj04325890000[1]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99763" y="1462000"/>
            <a:ext cx="360000" cy="36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450281"/>
              </p:ext>
            </p:extLst>
          </p:nvPr>
        </p:nvGraphicFramePr>
        <p:xfrm>
          <a:off x="323528" y="2276872"/>
          <a:ext cx="8640960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3564396"/>
                <a:gridCol w="3564396"/>
              </a:tblGrid>
              <a:tr h="302308">
                <a:tc rowSpan="4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Appréciation générale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Avancement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noFill/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230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4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Commentaires</a:t>
                      </a:r>
                      <a:endParaRPr lang="en-GB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8922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8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Espace réservé du pied de page 3"/>
          <p:cNvSpPr txBox="1">
            <a:spLocks/>
          </p:cNvSpPr>
          <p:nvPr/>
        </p:nvSpPr>
        <p:spPr>
          <a:xfrm>
            <a:off x="3140612" y="635793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err="1" smtClean="0"/>
              <a:t>Réf</a:t>
            </a:r>
            <a:r>
              <a:rPr lang="en-US" dirty="0" smtClean="0"/>
              <a:t>. Du </a:t>
            </a:r>
            <a:r>
              <a:rPr lang="en-US" dirty="0" err="1" smtClean="0"/>
              <a:t>fichier</a:t>
            </a:r>
            <a:r>
              <a:rPr lang="en-US" dirty="0" smtClean="0"/>
              <a:t> – Date </a:t>
            </a:r>
            <a:r>
              <a:rPr lang="en-US" dirty="0" err="1" smtClean="0"/>
              <a:t>Coproj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47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Default Theme">
  <a:themeElements>
    <a:clrScheme name="UPMC charte graphique">
      <a:dk1>
        <a:srgbClr val="000000"/>
      </a:dk1>
      <a:lt1>
        <a:srgbClr val="FFFFFF"/>
      </a:lt1>
      <a:dk2>
        <a:srgbClr val="665546"/>
      </a:dk2>
      <a:lt2>
        <a:srgbClr val="91785B"/>
      </a:lt2>
      <a:accent1>
        <a:srgbClr val="4B92DB"/>
      </a:accent1>
      <a:accent2>
        <a:srgbClr val="644459"/>
      </a:accent2>
      <a:accent3>
        <a:srgbClr val="B6BF00"/>
      </a:accent3>
      <a:accent4>
        <a:srgbClr val="FFA02F"/>
      </a:accent4>
      <a:accent5>
        <a:srgbClr val="B5384F"/>
      </a:accent5>
      <a:accent6>
        <a:srgbClr val="D10074"/>
      </a:accent6>
      <a:hlink>
        <a:srgbClr val="00B9E4"/>
      </a:hlink>
      <a:folHlink>
        <a:srgbClr val="22505F"/>
      </a:folHlink>
    </a:clrScheme>
    <a:fontScheme name="Charte graphique UPMC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0 xmlns="ba304b05-2de2-4a46-be7c-fa23123e7702">Exemple de Modele de TB-projet</DESCRIPTION0>
    <Cat_x00e9_gorie xmlns="ba304b05-2de2-4a46-be7c-fa23123e7702">Etude</Cat_x00e9_gorie>
    <Statut xmlns="ba304b05-2de2-4a46-be7c-fa23123e7702">Encours</Statut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B27D112975140984A018D31E93D46" ma:contentTypeVersion="6" ma:contentTypeDescription="Crée un document." ma:contentTypeScope="" ma:versionID="cd1a5a7e3b4fab495c8d03ccfa007047">
  <xsd:schema xmlns:xsd="http://www.w3.org/2001/XMLSchema" xmlns:xs="http://www.w3.org/2001/XMLSchema" xmlns:p="http://schemas.microsoft.com/office/2006/metadata/properties" xmlns:ns2="ba304b05-2de2-4a46-be7c-fa23123e7702" targetNamespace="http://schemas.microsoft.com/office/2006/metadata/properties" ma:root="true" ma:fieldsID="17380a433e5f01ac948fc83ff4e94548" ns2:_="">
    <xsd:import namespace="ba304b05-2de2-4a46-be7c-fa23123e7702"/>
    <xsd:element name="properties">
      <xsd:complexType>
        <xsd:sequence>
          <xsd:element name="documentManagement">
            <xsd:complexType>
              <xsd:all>
                <xsd:element ref="ns2:DESCRIPTION0" minOccurs="0"/>
                <xsd:element ref="ns2:Statut"/>
                <xsd:element ref="ns2:Cat_x00e9_gori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304b05-2de2-4a46-be7c-fa23123e7702" elementFormDefault="qualified">
    <xsd:import namespace="http://schemas.microsoft.com/office/2006/documentManagement/types"/>
    <xsd:import namespace="http://schemas.microsoft.com/office/infopath/2007/PartnerControls"/>
    <xsd:element name="DESCRIPTION0" ma:index="8" nillable="true" ma:displayName="Description" ma:description="Description du document" ma:internalName="DESCRIPTION0">
      <xsd:simpleType>
        <xsd:restriction base="dms:Note">
          <xsd:maxLength value="255"/>
        </xsd:restriction>
      </xsd:simpleType>
    </xsd:element>
    <xsd:element name="Statut" ma:index="9" ma:displayName="Statut" ma:default="Travail" ma:description="Statut du document (Utiliser pour les projet que les documents ayant le statut &quot;Valide&quot;)" ma:format="Dropdown" ma:indexed="true" ma:internalName="Statut">
      <xsd:simpleType>
        <xsd:restriction base="dms:Choice">
          <xsd:enumeration value="Travail"/>
          <xsd:enumeration value="Encours"/>
          <xsd:enumeration value="Valide"/>
        </xsd:restriction>
      </xsd:simpleType>
    </xsd:element>
    <xsd:element name="Cat_x00e9_gorie" ma:index="10" nillable="true" ma:displayName="Catégorie" ma:default="Projet" ma:description="Catégorie d'utilisation du document" ma:format="Dropdown" ma:internalName="Cat_x00e9_gorie">
      <xsd:simpleType>
        <xsd:restriction base="dms:Choice">
          <xsd:enumeration value="Projet"/>
          <xsd:enumeration value="Admin"/>
          <xsd:enumeration value="Dév"/>
          <xsd:enumeration value="Prod"/>
          <xsd:enumeration value="Etude"/>
          <xsd:enumeration value="NADAP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7E9DD-FD39-4258-ACCA-161BEA3586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2E19A6-1FC2-4635-9FD1-E19332A97D89}">
  <ds:schemaRefs>
    <ds:schemaRef ds:uri="http://schemas.microsoft.com/office/2006/metadata/properties"/>
    <ds:schemaRef ds:uri="ba304b05-2de2-4a46-be7c-fa23123e7702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A0A82F11-A615-41E5-B460-7C061A4C89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304b05-2de2-4a46-be7c-fa23123e77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7283</TotalTime>
  <Words>311</Words>
  <Application>Microsoft Office PowerPoint</Application>
  <PresentationFormat>Affichage à l'écran (4:3)</PresentationFormat>
  <Paragraphs>96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5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4_Default Theme</vt:lpstr>
      <vt:lpstr>Conception personnalisée</vt:lpstr>
      <vt:lpstr>1_Conception personnalisée</vt:lpstr>
      <vt:lpstr>2_Conception personnalisée</vt:lpstr>
      <vt:lpstr>3_Conception personnalisée</vt:lpstr>
      <vt:lpstr>Tableau de bord – Suivi de projet: XXXX</vt:lpstr>
      <vt:lpstr>Suivi des activités Période du JJ/MM/AA au  JJ/MM/AA  </vt:lpstr>
      <vt:lpstr>Avancement des tâches Période du JJ/MM/AA au  JJ/MM/AA  </vt:lpstr>
      <vt:lpstr>Avancement des livrables au JJ/MM/AA  </vt:lpstr>
      <vt:lpstr>Météo - Synthèse </vt:lpstr>
    </vt:vector>
  </TitlesOfParts>
  <Manager>Christine.Viguier@admp6.jussieu.fr</Manager>
  <Company>Université P &amp; M Curie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 de Modele de TB-projet</dc:title>
  <dc:subject>Pi-STL-Modele-TB</dc:subject>
  <dc:creator>Christine.Viguier@admp6.jussieu.fr</dc:creator>
  <cp:lastModifiedBy>cvr</cp:lastModifiedBy>
  <cp:revision>164</cp:revision>
  <cp:lastPrinted>2013-11-03T19:18:17Z</cp:lastPrinted>
  <dcterms:created xsi:type="dcterms:W3CDTF">2013-05-07T09:29:44Z</dcterms:created>
  <dcterms:modified xsi:type="dcterms:W3CDTF">2014-10-15T13:43:55Z</dcterms:modified>
  <cp:category>MODELE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0x010100F4FB27D112975140984A018D31E93D46</vt:lpwstr>
  </property>
  <property fmtid="{D5CDD505-2E9C-101B-9397-08002B2CF9AE}" pid="3" name="DESCRIPTION0">
    <vt:lpwstr>Présentation NADAP 1 - MOA-</vt:lpwstr>
  </property>
  <property fmtid="{D5CDD505-2E9C-101B-9397-08002B2CF9AE}" pid="4" name="Statut">
    <vt:lpwstr>Valide</vt:lpwstr>
  </property>
  <property fmtid="{D5CDD505-2E9C-101B-9397-08002B2CF9AE}" pid="5" name="Catégorie">
    <vt:lpwstr>Etude</vt:lpwstr>
  </property>
</Properties>
</file>