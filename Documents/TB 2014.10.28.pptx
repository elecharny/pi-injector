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  <p:sldMasterId id="2147483750" r:id="rId5"/>
    <p:sldMasterId id="2147483764" r:id="rId6"/>
    <p:sldMasterId id="2147483777" r:id="rId7"/>
    <p:sldMasterId id="2147483790" r:id="rId8"/>
  </p:sldMasterIdLst>
  <p:notesMasterIdLst>
    <p:notesMasterId r:id="rId14"/>
  </p:notesMasterIdLst>
  <p:sldIdLst>
    <p:sldId id="276" r:id="rId9"/>
    <p:sldId id="277" r:id="rId10"/>
    <p:sldId id="278" r:id="rId11"/>
    <p:sldId id="280" r:id="rId12"/>
    <p:sldId id="281" r:id="rId1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08" autoAdjust="0"/>
    <p:restoredTop sz="94705" autoAdjust="0"/>
  </p:normalViewPr>
  <p:slideViewPr>
    <p:cSldViewPr>
      <p:cViewPr>
        <p:scale>
          <a:sx n="100" d="100"/>
          <a:sy n="100" d="100"/>
        </p:scale>
        <p:origin x="-1944" y="-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31E31223-ADE9-4D68-9F03-2F453132BF1D}" type="datetimeFigureOut">
              <a:rPr lang="fr-FR"/>
              <a:pPr>
                <a:defRPr/>
              </a:pPr>
              <a:t>06/11/2014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E25014BA-7E69-4DF1-A456-8B7648CDD71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305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35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/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046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>
          <a:xfrm>
            <a:off x="4859338" y="3284538"/>
            <a:ext cx="2592387" cy="1296987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7510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2813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F4BBC-DD33-4EAF-A795-05B045A31A4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5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36138-AD5F-4E29-A399-E844EF845F8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0661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Century Gothic" pitchFamily="34" charset="0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667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EFC0-3423-402B-B708-FFED42F3D37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469B6-F905-4DD1-9521-B816AF7D40C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2687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9819-6027-45BE-9692-27918BA0DA2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1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47D34-CF79-4062-8B39-4EA03315C9B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1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5B8B3-60A9-43B3-B6DB-7480FFDB604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4692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29E10-5B70-4C9E-8133-9D7F3F4E70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3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066130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0F4C6-C305-463C-9883-6FE16226C8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emf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3" r:id="rId2"/>
    <p:sldLayoutId id="2147483900" r:id="rId3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1pPr>
      <a:lvl2pPr marL="215900" indent="-215900" algn="l" rtl="0" eaLnBrk="0" fontAlgn="base" hangingPunct="0">
        <a:lnSpc>
          <a:spcPct val="150000"/>
        </a:lnSpc>
        <a:spcBef>
          <a:spcPts val="600"/>
        </a:spcBef>
        <a:spcAft>
          <a:spcPts val="30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 kern="1200">
          <a:solidFill>
            <a:schemeClr val="tx1"/>
          </a:solidFill>
          <a:latin typeface="+mn-lt"/>
          <a:ea typeface="Batang" pitchFamily="18" charset="-127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2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Batang" pitchFamily="18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205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les styles du texte du masque</a:t>
            </a:r>
          </a:p>
          <a:p>
            <a:pPr lvl="1"/>
            <a:r>
              <a:rPr lang="fr-FR" altLang="fr-FR" dirty="0" smtClean="0"/>
              <a:t>Deuxième niveau</a:t>
            </a:r>
          </a:p>
          <a:p>
            <a:pPr lvl="2"/>
            <a:r>
              <a:rPr lang="fr-FR" altLang="fr-FR" dirty="0" smtClean="0"/>
              <a:t>Troisième niveau</a:t>
            </a:r>
          </a:p>
          <a:p>
            <a:pPr lvl="3"/>
            <a:r>
              <a:rPr lang="fr-FR" altLang="fr-FR" dirty="0" smtClean="0"/>
              <a:t>Quatrième niveau</a:t>
            </a:r>
          </a:p>
          <a:p>
            <a:pPr lvl="4"/>
            <a:r>
              <a:rPr lang="fr-FR" altLang="fr-FR" dirty="0" smtClean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C60CE39-269A-4C5E-B9F4-43A3170E95E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pic>
        <p:nvPicPr>
          <p:cNvPr id="2055" name="Image 3" descr="UPMC_cart blanc Q_7504-16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" y="38522"/>
            <a:ext cx="15573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0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PiSTL</a:t>
            </a:r>
            <a:endParaRPr lang="fr-FR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1" r:id="rId2"/>
    <p:sldLayoutId id="2147483902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1588"/>
            <a:ext cx="9180513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307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6F21E3C-4CA7-4246-9815-1266DAEBC40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63050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41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AF17D9E8-113B-42C2-92CB-57732462949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512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E2A143CE-C1AE-46DD-890C-4016E6AB07A2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1B90F8-8EE4-409B-B151-70F540DBBD7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9460" name="Titre 2"/>
          <p:cNvSpPr>
            <a:spLocks noGrp="1"/>
          </p:cNvSpPr>
          <p:nvPr>
            <p:ph type="title"/>
          </p:nvPr>
        </p:nvSpPr>
        <p:spPr>
          <a:xfrm>
            <a:off x="179388" y="274638"/>
            <a:ext cx="8462962" cy="1143000"/>
          </a:xfrm>
        </p:spPr>
        <p:txBody>
          <a:bodyPr/>
          <a:lstStyle/>
          <a:p>
            <a:pPr eaLnBrk="1" hangingPunct="1"/>
            <a:r>
              <a:rPr lang="fr-FR" dirty="0" smtClean="0"/>
              <a:t>Tableau de bord – Projet: pi-</a:t>
            </a:r>
            <a:r>
              <a:rPr lang="fr-FR" dirty="0" err="1" smtClean="0"/>
              <a:t>injector</a:t>
            </a:r>
            <a:endParaRPr lang="en-US" altLang="fr-FR" dirty="0" smtClean="0"/>
          </a:p>
        </p:txBody>
      </p:sp>
      <p:sp>
        <p:nvSpPr>
          <p:cNvPr id="19461" name="Espace réservé du contenu 3"/>
          <p:cNvSpPr>
            <a:spLocks noGrp="1"/>
          </p:cNvSpPr>
          <p:nvPr>
            <p:ph idx="1"/>
          </p:nvPr>
        </p:nvSpPr>
        <p:spPr>
          <a:xfrm>
            <a:off x="179388" y="1600200"/>
            <a:ext cx="8713092" cy="4525963"/>
          </a:xfrm>
        </p:spPr>
        <p:txBody>
          <a:bodyPr/>
          <a:lstStyle/>
          <a:p>
            <a:r>
              <a:rPr lang="fr-FR" dirty="0"/>
              <a:t>Réalisations depuis </a:t>
            </a:r>
            <a:r>
              <a:rPr lang="fr-FR" dirty="0" smtClean="0"/>
              <a:t>le 14/10/14</a:t>
            </a:r>
          </a:p>
          <a:p>
            <a:endParaRPr lang="fr-FR" b="0" i="1" dirty="0"/>
          </a:p>
          <a:p>
            <a:r>
              <a:rPr lang="fr-FR" dirty="0"/>
              <a:t>Suivi des </a:t>
            </a:r>
            <a:r>
              <a:rPr lang="fr-FR" dirty="0" smtClean="0"/>
              <a:t>activités</a:t>
            </a:r>
          </a:p>
          <a:p>
            <a:endParaRPr lang="fr-FR" dirty="0"/>
          </a:p>
          <a:p>
            <a:r>
              <a:rPr lang="fr-FR" dirty="0"/>
              <a:t>Suivi des </a:t>
            </a:r>
            <a:r>
              <a:rPr lang="fr-FR" dirty="0" smtClean="0"/>
              <a:t>charges</a:t>
            </a:r>
          </a:p>
          <a:p>
            <a:endParaRPr lang="fr-FR" dirty="0"/>
          </a:p>
          <a:p>
            <a:r>
              <a:rPr lang="fr-FR" dirty="0"/>
              <a:t>Synthèse « Météo »</a:t>
            </a:r>
            <a:endParaRPr lang="en-GB" dirty="0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4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Suivi des activités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</a:t>
            </a:r>
            <a:r>
              <a:rPr lang="fr-FR" dirty="0" smtClean="0"/>
              <a:t>14/10/14 </a:t>
            </a:r>
            <a:r>
              <a:rPr lang="fr-FR" dirty="0"/>
              <a:t>au </a:t>
            </a:r>
            <a:r>
              <a:rPr lang="fr-FR" dirty="0" smtClean="0"/>
              <a:t>28/10/14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933240"/>
              </p:ext>
            </p:extLst>
          </p:nvPr>
        </p:nvGraphicFramePr>
        <p:xfrm>
          <a:off x="323528" y="1340768"/>
          <a:ext cx="8640960" cy="2376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Réalisations et événements majeurs sur la période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Réalisations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et événements majeurs sur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la période à venir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81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baseline="0" noProof="0" dirty="0" smtClean="0"/>
                        <a:t>- Définition </a:t>
                      </a:r>
                      <a:r>
                        <a:rPr lang="fr-FR" sz="1400" b="0" baseline="0" noProof="0" dirty="0" smtClean="0"/>
                        <a:t>de l’architecture du système </a:t>
                      </a:r>
                      <a:r>
                        <a:rPr lang="fr-FR" sz="1400" b="0" baseline="0" noProof="0" dirty="0" smtClean="0"/>
                        <a:t>: 0,5j/h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baseline="0" noProof="0" dirty="0" smtClean="0"/>
                        <a:t>- Etude des logiciels à utiliser : 1,5j/h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baseline="0" noProof="0" dirty="0" smtClean="0"/>
                        <a:t>- Etude des différents OS pour </a:t>
                      </a:r>
                      <a:r>
                        <a:rPr lang="fr-FR" sz="1400" b="0" baseline="0" noProof="0" dirty="0" err="1" smtClean="0"/>
                        <a:t>Raspberry</a:t>
                      </a:r>
                      <a:r>
                        <a:rPr lang="fr-FR" sz="1400" b="0" baseline="0" noProof="0" dirty="0" smtClean="0"/>
                        <a:t>-Pi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baseline="0" noProof="0" dirty="0" smtClean="0"/>
                        <a:t>- Rédaction des documents (CR, TB) : 1,5j/h</a:t>
                      </a:r>
                      <a:endParaRPr lang="fr-FR" sz="1400" b="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</a:t>
                      </a:r>
                      <a:r>
                        <a:rPr lang="fr-FR" sz="1400" b="0" i="0" baseline="0" noProof="0" dirty="0" smtClean="0"/>
                        <a:t>le tableau de bord : </a:t>
                      </a:r>
                      <a:r>
                        <a:rPr lang="fr-FR" sz="1400" b="0" i="0" baseline="0" noProof="0" dirty="0" smtClean="0"/>
                        <a:t>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Rédaction du WBS : 1j/h</a:t>
                      </a:r>
                      <a:endParaRPr lang="fr-FR" sz="1400" b="0" i="0" baseline="0" noProof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Tester les logiciels à utiliser : 1,5j/h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</a:t>
                      </a:r>
                      <a:r>
                        <a:rPr lang="fr-FR" sz="1400" b="0" i="0" baseline="0" noProof="0" dirty="0" smtClean="0"/>
                        <a:t>Mise en place de l’environnement de test : </a:t>
                      </a:r>
                      <a:r>
                        <a:rPr lang="fr-FR" sz="1400" b="0" i="0" baseline="0" noProof="0" dirty="0" smtClean="0"/>
                        <a:t>3j/h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Rédiger un manuel utilisateur pour le test du serveur : 1j/h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900769"/>
              </p:ext>
            </p:extLst>
          </p:nvPr>
        </p:nvGraphicFramePr>
        <p:xfrm>
          <a:off x="323528" y="3717032"/>
          <a:ext cx="8640960" cy="2404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Principaux risques identifiés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Arbitrages ou décisions demandés à la MOA ou la MOE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225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Avancement des deadlines des autres projets</a:t>
                      </a:r>
                      <a:endParaRPr lang="fr-FR" sz="1600" b="0" i="1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/>
                        <a:t>- En attente d’une</a:t>
                      </a:r>
                      <a:r>
                        <a:rPr lang="fr-FR" sz="1400" baseline="0" dirty="0" smtClean="0"/>
                        <a:t> alimentation d’un </a:t>
                      </a:r>
                      <a:r>
                        <a:rPr lang="fr-FR" sz="1400" baseline="0" dirty="0" err="1" smtClean="0"/>
                        <a:t>Raspberry</a:t>
                      </a:r>
                      <a:r>
                        <a:rPr lang="fr-FR" sz="1400" baseline="0" dirty="0" smtClean="0"/>
                        <a:t>-Pi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/>
                        <a:t>- En attente d’un </a:t>
                      </a:r>
                      <a:r>
                        <a:rPr lang="fr-FR" sz="1400" dirty="0" err="1" smtClean="0"/>
                        <a:t>switch</a:t>
                      </a:r>
                      <a:endParaRPr lang="fr-FR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Espace réservé du pied de page 3"/>
          <p:cNvSpPr txBox="1">
            <a:spLocks/>
          </p:cNvSpPr>
          <p:nvPr/>
        </p:nvSpPr>
        <p:spPr>
          <a:xfrm>
            <a:off x="2987824" y="638132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Avancement des </a:t>
            </a:r>
            <a:r>
              <a:rPr lang="fr-FR" dirty="0" smtClean="0"/>
              <a:t>tâches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</a:t>
            </a:r>
            <a:r>
              <a:rPr lang="fr-FR" dirty="0" smtClean="0"/>
              <a:t>14/10/14 u 28/10/14 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675592"/>
              </p:ext>
            </p:extLst>
          </p:nvPr>
        </p:nvGraphicFramePr>
        <p:xfrm>
          <a:off x="395538" y="1628798"/>
          <a:ext cx="8424934" cy="427660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60238"/>
                <a:gridCol w="1080120"/>
                <a:gridCol w="1008112"/>
                <a:gridCol w="1008112"/>
                <a:gridCol w="1008112"/>
                <a:gridCol w="1008112"/>
                <a:gridCol w="1152128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(et N° de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réf.)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du responsable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Personnes affectées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Début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estimée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Communiquer les accès Git à E.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Lécharny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Etablir un bilan du travail réalisé depuis le 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Tester les logiciels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Mise en place de l’environnement de test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Rédiger un manuel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utilisateur </a:t>
                      </a: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pour le test du serveur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fr-FR" dirty="0" smtClean="0"/>
              <a:t>Avancement des livrables au 28/10/14 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168549"/>
              </p:ext>
            </p:extLst>
          </p:nvPr>
        </p:nvGraphicFramePr>
        <p:xfrm>
          <a:off x="395538" y="1628798"/>
          <a:ext cx="8424934" cy="367828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12166"/>
                <a:gridCol w="1440160"/>
                <a:gridCol w="1224136"/>
                <a:gridCol w="1008112"/>
                <a:gridCol w="1008112"/>
                <a:gridCol w="1008112"/>
                <a:gridCol w="1224136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(référence) du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livrables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 courte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Valideur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théorique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révisée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E.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Lécharny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1%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867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Météo - Synthèse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875668"/>
              </p:ext>
            </p:extLst>
          </p:nvPr>
        </p:nvGraphicFramePr>
        <p:xfrm>
          <a:off x="323527" y="3861048"/>
          <a:ext cx="8640961" cy="177222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78613"/>
                <a:gridCol w="1378615"/>
                <a:gridCol w="1378615"/>
                <a:gridCol w="1464779"/>
                <a:gridCol w="1464779"/>
                <a:gridCol w="1575560"/>
              </a:tblGrid>
              <a:tr h="24822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Météo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Tendance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Avancement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Commentaire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2127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1%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i="0" kern="1200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67992"/>
              </p:ext>
            </p:extLst>
          </p:nvPr>
        </p:nvGraphicFramePr>
        <p:xfrm>
          <a:off x="431520" y="1380624"/>
          <a:ext cx="8640963" cy="71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</a:tblGrid>
              <a:tr h="50405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Signalétique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Tendances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Amélioration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Dégradation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108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latent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avéré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Blocage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18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8" descr="MCj043258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9339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9" descr="j04315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88412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0"/>
          <p:cNvPicPr>
            <a:picLocks noChangeAspect="1" noChangeArrowheads="1"/>
          </p:cNvPicPr>
          <p:nvPr/>
        </p:nvPicPr>
        <p:blipFill>
          <a:blip r:embed="rId5" cstate="print"/>
          <a:srcRect r="94710"/>
          <a:stretch>
            <a:fillRect/>
          </a:stretch>
        </p:blipFill>
        <p:spPr bwMode="auto">
          <a:xfrm>
            <a:off x="6344906" y="1407994"/>
            <a:ext cx="360000" cy="468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1"/>
          <p:cNvPicPr>
            <a:picLocks noChangeAspect="1" noChangeArrowheads="1"/>
          </p:cNvPicPr>
          <p:nvPr/>
        </p:nvPicPr>
        <p:blipFill>
          <a:blip r:embed="rId6" cstate="print"/>
          <a:srcRect r="94984"/>
          <a:stretch>
            <a:fillRect/>
          </a:stretch>
        </p:blipFill>
        <p:spPr bwMode="auto">
          <a:xfrm>
            <a:off x="8163357" y="1394091"/>
            <a:ext cx="360000" cy="49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7243999" y="1445813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99763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65285"/>
              </p:ext>
            </p:extLst>
          </p:nvPr>
        </p:nvGraphicFramePr>
        <p:xfrm>
          <a:off x="323528" y="2276872"/>
          <a:ext cx="8640960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3564396"/>
                <a:gridCol w="3564396"/>
              </a:tblGrid>
              <a:tr h="302308">
                <a:tc rowSpan="4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Appréciation générale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noFill/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8922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4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Espace réservé du pied de page 3"/>
          <p:cNvSpPr txBox="1">
            <a:spLocks/>
          </p:cNvSpPr>
          <p:nvPr/>
        </p:nvSpPr>
        <p:spPr>
          <a:xfrm>
            <a:off x="3140612" y="635793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 </a:t>
            </a:r>
            <a:r>
              <a:rPr lang="en-US" dirty="0" err="1" smtClean="0"/>
              <a:t>Coproj</a:t>
            </a:r>
            <a:endParaRPr lang="en-US" dirty="0"/>
          </a:p>
        </p:txBody>
      </p:sp>
      <p:pic>
        <p:nvPicPr>
          <p:cNvPr id="17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2422" y="2793178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1187624" y="2801218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18866" y="4117537"/>
            <a:ext cx="279110" cy="27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3639339" y="4099733"/>
            <a:ext cx="272416" cy="2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44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Theme">
  <a:themeElements>
    <a:clrScheme name="UPMC charte graphique">
      <a:dk1>
        <a:srgbClr val="000000"/>
      </a:dk1>
      <a:lt1>
        <a:srgbClr val="FFFFFF"/>
      </a:lt1>
      <a:dk2>
        <a:srgbClr val="665546"/>
      </a:dk2>
      <a:lt2>
        <a:srgbClr val="91785B"/>
      </a:lt2>
      <a:accent1>
        <a:srgbClr val="4B92DB"/>
      </a:accent1>
      <a:accent2>
        <a:srgbClr val="644459"/>
      </a:accent2>
      <a:accent3>
        <a:srgbClr val="B6BF00"/>
      </a:accent3>
      <a:accent4>
        <a:srgbClr val="FFA02F"/>
      </a:accent4>
      <a:accent5>
        <a:srgbClr val="B5384F"/>
      </a:accent5>
      <a:accent6>
        <a:srgbClr val="D10074"/>
      </a:accent6>
      <a:hlink>
        <a:srgbClr val="00B9E4"/>
      </a:hlink>
      <a:folHlink>
        <a:srgbClr val="22505F"/>
      </a:folHlink>
    </a:clrScheme>
    <a:fontScheme name="Charte graphique UPMC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ba304b05-2de2-4a46-be7c-fa23123e7702">Exemple de Modele de TB-projet</DESCRIPTION0>
    <Cat_x00e9_gorie xmlns="ba304b05-2de2-4a46-be7c-fa23123e7702">Etude</Cat_x00e9_gorie>
    <Statut xmlns="ba304b05-2de2-4a46-be7c-fa23123e7702">Encours</Statu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B27D112975140984A018D31E93D46" ma:contentTypeVersion="6" ma:contentTypeDescription="Crée un document." ma:contentTypeScope="" ma:versionID="cd1a5a7e3b4fab495c8d03ccfa007047">
  <xsd:schema xmlns:xsd="http://www.w3.org/2001/XMLSchema" xmlns:xs="http://www.w3.org/2001/XMLSchema" xmlns:p="http://schemas.microsoft.com/office/2006/metadata/properties" xmlns:ns2="ba304b05-2de2-4a46-be7c-fa23123e7702" targetNamespace="http://schemas.microsoft.com/office/2006/metadata/properties" ma:root="true" ma:fieldsID="17380a433e5f01ac948fc83ff4e94548" ns2:_="">
    <xsd:import namespace="ba304b05-2de2-4a46-be7c-fa23123e7702"/>
    <xsd:element name="properties">
      <xsd:complexType>
        <xsd:sequence>
          <xsd:element name="documentManagement">
            <xsd:complexType>
              <xsd:all>
                <xsd:element ref="ns2:DESCRIPTION0" minOccurs="0"/>
                <xsd:element ref="ns2:Statut"/>
                <xsd:element ref="ns2:Cat_x00e9_gori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04b05-2de2-4a46-be7c-fa23123e7702" elementFormDefault="qualified">
    <xsd:import namespace="http://schemas.microsoft.com/office/2006/documentManagement/types"/>
    <xsd:import namespace="http://schemas.microsoft.com/office/infopath/2007/PartnerControls"/>
    <xsd:element name="DESCRIPTION0" ma:index="8" nillable="true" ma:displayName="Description" ma:description="Description du document" ma:internalName="DESCRIPTION0">
      <xsd:simpleType>
        <xsd:restriction base="dms:Note">
          <xsd:maxLength value="255"/>
        </xsd:restriction>
      </xsd:simpleType>
    </xsd:element>
    <xsd:element name="Statut" ma:index="9" ma:displayName="Statut" ma:default="Travail" ma:description="Statut du document (Utiliser pour les projet que les documents ayant le statut &quot;Valide&quot;)" ma:format="Dropdown" ma:indexed="true" ma:internalName="Statut">
      <xsd:simpleType>
        <xsd:restriction base="dms:Choice">
          <xsd:enumeration value="Travail"/>
          <xsd:enumeration value="Encours"/>
          <xsd:enumeration value="Valide"/>
        </xsd:restriction>
      </xsd:simpleType>
    </xsd:element>
    <xsd:element name="Cat_x00e9_gorie" ma:index="10" nillable="true" ma:displayName="Catégorie" ma:default="Projet" ma:description="Catégorie d'utilisation du document" ma:format="Dropdown" ma:internalName="Cat_x00e9_gorie">
      <xsd:simpleType>
        <xsd:restriction base="dms:Choice">
          <xsd:enumeration value="Projet"/>
          <xsd:enumeration value="Admin"/>
          <xsd:enumeration value="Dév"/>
          <xsd:enumeration value="Prod"/>
          <xsd:enumeration value="Etude"/>
          <xsd:enumeration value="NADAP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7E9DD-FD39-4258-ACCA-161BEA358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2E19A6-1FC2-4635-9FD1-E19332A97D89}">
  <ds:schemaRefs>
    <ds:schemaRef ds:uri="http://schemas.microsoft.com/office/2006/metadata/properties"/>
    <ds:schemaRef ds:uri="ba304b05-2de2-4a46-be7c-fa23123e7702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0A82F11-A615-41E5-B460-7C061A4C8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04b05-2de2-4a46-be7c-fa23123e77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7355</TotalTime>
  <Words>383</Words>
  <Application>Microsoft Office PowerPoint</Application>
  <PresentationFormat>Affichage à l'écran (4:3)</PresentationFormat>
  <Paragraphs>112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4_Default Theme</vt:lpstr>
      <vt:lpstr>Conception personnalisée</vt:lpstr>
      <vt:lpstr>1_Conception personnalisée</vt:lpstr>
      <vt:lpstr>2_Conception personnalisée</vt:lpstr>
      <vt:lpstr>3_Conception personnalisée</vt:lpstr>
      <vt:lpstr>Tableau de bord – Projet: pi-injector</vt:lpstr>
      <vt:lpstr>Suivi des activités Période du 14/10/14 au 28/10/14 </vt:lpstr>
      <vt:lpstr>Avancement des tâches Période du 14/10/14 u 28/10/14  </vt:lpstr>
      <vt:lpstr>Avancement des livrables au 28/10/14  </vt:lpstr>
      <vt:lpstr>Météo - Synthèse </vt:lpstr>
    </vt:vector>
  </TitlesOfParts>
  <Manager>Christine.Viguier@admp6.jussieu.fr</Manager>
  <Company>Université P &amp; M Curie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Modele de TB-projet</dc:title>
  <dc:subject>Pi-STL-Modele-TB</dc:subject>
  <dc:creator>Christine.Viguier@admp6.jussieu.fr</dc:creator>
  <cp:lastModifiedBy>Antoine</cp:lastModifiedBy>
  <cp:revision>173</cp:revision>
  <cp:lastPrinted>2013-11-03T19:18:17Z</cp:lastPrinted>
  <dcterms:created xsi:type="dcterms:W3CDTF">2013-05-07T09:29:44Z</dcterms:created>
  <dcterms:modified xsi:type="dcterms:W3CDTF">2014-11-06T21:25:25Z</dcterms:modified>
  <cp:category>MODELE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0x010100F4FB27D112975140984A018D31E93D46</vt:lpwstr>
  </property>
  <property fmtid="{D5CDD505-2E9C-101B-9397-08002B2CF9AE}" pid="3" name="DESCRIPTION0">
    <vt:lpwstr>Présentation NADAP 1 - MOA-</vt:lpwstr>
  </property>
  <property fmtid="{D5CDD505-2E9C-101B-9397-08002B2CF9AE}" pid="4" name="Statut">
    <vt:lpwstr>Valide</vt:lpwstr>
  </property>
  <property fmtid="{D5CDD505-2E9C-101B-9397-08002B2CF9AE}" pid="5" name="Catégorie">
    <vt:lpwstr>Etude</vt:lpwstr>
  </property>
</Properties>
</file>